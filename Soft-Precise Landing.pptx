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501" r:id="rId3"/>
    <p:sldId id="507" r:id="rId4"/>
    <p:sldId id="257" r:id="rId5"/>
    <p:sldId id="259" r:id="rId6"/>
    <p:sldId id="504" r:id="rId7"/>
    <p:sldId id="503" r:id="rId8"/>
    <p:sldId id="516" r:id="rId9"/>
    <p:sldId id="509" r:id="rId10"/>
    <p:sldId id="498" r:id="rId11"/>
    <p:sldId id="505" r:id="rId12"/>
    <p:sldId id="515" r:id="rId13"/>
    <p:sldId id="510" r:id="rId14"/>
    <p:sldId id="511" r:id="rId15"/>
    <p:sldId id="518" r:id="rId16"/>
    <p:sldId id="519" r:id="rId17"/>
    <p:sldId id="513" r:id="rId18"/>
    <p:sldId id="520" r:id="rId19"/>
    <p:sldId id="521" r:id="rId20"/>
    <p:sldId id="522" r:id="rId21"/>
    <p:sldId id="540" r:id="rId22"/>
    <p:sldId id="538" r:id="rId23"/>
    <p:sldId id="506" r:id="rId24"/>
    <p:sldId id="539" r:id="rId25"/>
    <p:sldId id="41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69967" autoAdjust="0"/>
  </p:normalViewPr>
  <p:slideViewPr>
    <p:cSldViewPr snapToGrid="0">
      <p:cViewPr varScale="1">
        <p:scale>
          <a:sx n="77" d="100"/>
          <a:sy n="77" d="100"/>
        </p:scale>
        <p:origin x="12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FD6B39-A7AC-4935-A53A-1C7AD951AE80}" type="doc">
      <dgm:prSet loTypeId="urn:microsoft.com/office/officeart/2005/8/layout/vList4" loCatId="picture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IN"/>
        </a:p>
      </dgm:t>
    </dgm:pt>
    <dgm:pt modelId="{0ECACF45-81F9-4A89-913E-10E603BF915C}">
      <dgm:prSet phldrT="[Text]" custT="1"/>
      <dgm:spPr/>
      <dgm:t>
        <a:bodyPr/>
        <a:lstStyle/>
        <a:p>
          <a:r>
            <a:rPr lang="en-IN" sz="2000" kern="1200" dirty="0"/>
            <a:t>INS + GNSS</a:t>
          </a:r>
          <a:r>
            <a:rPr lang="en-IN" sz="1800" kern="1200" dirty="0"/>
            <a:t> </a:t>
          </a:r>
          <a:r>
            <a:rPr lang="en-US" sz="1400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[Marcon 2018 IEEE PIERS]</a:t>
          </a:r>
          <a:endParaRPr lang="en-IN" sz="1400" kern="1200" dirty="0">
            <a:solidFill>
              <a:srgbClr val="FF0000"/>
            </a:solidFill>
            <a:latin typeface="+mn-lt"/>
            <a:ea typeface="+mn-ea"/>
            <a:cs typeface="+mn-cs"/>
          </a:endParaRPr>
        </a:p>
      </dgm:t>
    </dgm:pt>
    <dgm:pt modelId="{878CE328-67ED-482C-BE71-5CD4BA1882F8}" type="parTrans" cxnId="{9A4C902D-F3A2-4DDB-9E17-632DB980B4C3}">
      <dgm:prSet/>
      <dgm:spPr/>
      <dgm:t>
        <a:bodyPr/>
        <a:lstStyle/>
        <a:p>
          <a:endParaRPr lang="en-IN"/>
        </a:p>
      </dgm:t>
    </dgm:pt>
    <dgm:pt modelId="{08B68530-6F5D-45D7-8FFA-D555300E0D1B}" type="sibTrans" cxnId="{9A4C902D-F3A2-4DDB-9E17-632DB980B4C3}">
      <dgm:prSet/>
      <dgm:spPr/>
      <dgm:t>
        <a:bodyPr/>
        <a:lstStyle/>
        <a:p>
          <a:endParaRPr lang="en-IN"/>
        </a:p>
      </dgm:t>
    </dgm:pt>
    <dgm:pt modelId="{CC5B6963-D3AE-49FD-B9FF-A9515F492E92}">
      <dgm:prSet phldrT="[Text]" custT="1"/>
      <dgm:spPr/>
      <dgm:t>
        <a:bodyPr/>
        <a:lstStyle/>
        <a:p>
          <a:r>
            <a:rPr lang="en-US" sz="1400" kern="1200" dirty="0"/>
            <a:t> </a:t>
          </a:r>
          <a:r>
            <a:rPr lang="en-US" sz="1800" kern="1200" dirty="0"/>
            <a:t>Denied indoors, urban-canyon, and obstructed sites</a:t>
          </a:r>
          <a:endParaRPr lang="en-IN" sz="1400" kern="1200" dirty="0"/>
        </a:p>
      </dgm:t>
    </dgm:pt>
    <dgm:pt modelId="{9C9FBC58-9753-4635-AFD1-028DB0B2DB06}" type="parTrans" cxnId="{2C8767BE-CCCB-47AE-815F-D8C867BC0B4D}">
      <dgm:prSet/>
      <dgm:spPr/>
      <dgm:t>
        <a:bodyPr/>
        <a:lstStyle/>
        <a:p>
          <a:endParaRPr lang="en-IN"/>
        </a:p>
      </dgm:t>
    </dgm:pt>
    <dgm:pt modelId="{FB5A8B81-9044-4126-AC9A-5C9FA9957382}" type="sibTrans" cxnId="{2C8767BE-CCCB-47AE-815F-D8C867BC0B4D}">
      <dgm:prSet/>
      <dgm:spPr/>
      <dgm:t>
        <a:bodyPr/>
        <a:lstStyle/>
        <a:p>
          <a:endParaRPr lang="en-IN"/>
        </a:p>
      </dgm:t>
    </dgm:pt>
    <dgm:pt modelId="{9C299CC7-A485-452A-88B5-D0A750422015}">
      <dgm:prSet phldrT="[Text]" custT="1"/>
      <dgm:spPr/>
      <dgm:t>
        <a:bodyPr/>
        <a:lstStyle/>
        <a:p>
          <a:r>
            <a:rPr lang="en-IN" sz="2000" dirty="0"/>
            <a:t>LiDAR (</a:t>
          </a:r>
          <a:r>
            <a:rPr lang="en-IN" sz="2000" dirty="0" err="1"/>
            <a:t>ToF</a:t>
          </a:r>
          <a:r>
            <a:rPr lang="en-IN" sz="2000" dirty="0"/>
            <a:t> / 3D)</a:t>
          </a:r>
          <a:r>
            <a:rPr lang="en-IN" sz="1800" dirty="0"/>
            <a:t> </a:t>
          </a:r>
          <a:r>
            <a:rPr lang="en-US" sz="1400" dirty="0">
              <a:solidFill>
                <a:srgbClr val="FF0000"/>
              </a:solidFill>
              <a:latin typeface="+mn-lt"/>
              <a:ea typeface="+mn-ea"/>
              <a:cs typeface="+mn-cs"/>
            </a:rPr>
            <a:t>[Kim 2017 IEEE URAI]</a:t>
          </a:r>
          <a:endParaRPr lang="en-IN" sz="1800" dirty="0">
            <a:solidFill>
              <a:srgbClr val="FF0000"/>
            </a:solidFill>
          </a:endParaRPr>
        </a:p>
      </dgm:t>
    </dgm:pt>
    <dgm:pt modelId="{6F4A8230-5568-4F7C-A6C6-8146A8FDE6E9}" type="parTrans" cxnId="{CF2DCEE9-0B03-41DE-B871-E39EBF2BE485}">
      <dgm:prSet/>
      <dgm:spPr/>
      <dgm:t>
        <a:bodyPr/>
        <a:lstStyle/>
        <a:p>
          <a:endParaRPr lang="en-IN"/>
        </a:p>
      </dgm:t>
    </dgm:pt>
    <dgm:pt modelId="{F9BB9373-67E8-4F40-B348-2852837BE5C7}" type="sibTrans" cxnId="{CF2DCEE9-0B03-41DE-B871-E39EBF2BE485}">
      <dgm:prSet/>
      <dgm:spPr/>
      <dgm:t>
        <a:bodyPr/>
        <a:lstStyle/>
        <a:p>
          <a:endParaRPr lang="en-IN"/>
        </a:p>
      </dgm:t>
    </dgm:pt>
    <dgm:pt modelId="{D81FEF5F-5774-406D-9B18-868679B3C7A6}">
      <dgm:prSet phldrT="[Text]" custT="1"/>
      <dgm:spPr/>
      <dgm:t>
        <a:bodyPr/>
        <a:lstStyle/>
        <a:p>
          <a:r>
            <a:rPr lang="en-IN" sz="1800" dirty="0"/>
            <a:t>High </a:t>
          </a:r>
          <a:r>
            <a:rPr lang="en-IN" sz="1800" dirty="0" err="1"/>
            <a:t>SWaP</a:t>
          </a:r>
          <a:r>
            <a:rPr lang="en-IN" sz="1800" dirty="0"/>
            <a:t>-C</a:t>
          </a:r>
        </a:p>
      </dgm:t>
    </dgm:pt>
    <dgm:pt modelId="{092220D7-340E-4BE6-998B-0EA620A4659F}" type="parTrans" cxnId="{5E2EC5A4-9D4C-4AA6-A67D-9F2F86DA6D16}">
      <dgm:prSet/>
      <dgm:spPr/>
      <dgm:t>
        <a:bodyPr/>
        <a:lstStyle/>
        <a:p>
          <a:endParaRPr lang="en-IN"/>
        </a:p>
      </dgm:t>
    </dgm:pt>
    <dgm:pt modelId="{4BF4459E-09C0-4EA0-BCFB-7519181D5A70}" type="sibTrans" cxnId="{5E2EC5A4-9D4C-4AA6-A67D-9F2F86DA6D16}">
      <dgm:prSet/>
      <dgm:spPr/>
      <dgm:t>
        <a:bodyPr/>
        <a:lstStyle/>
        <a:p>
          <a:endParaRPr lang="en-IN"/>
        </a:p>
      </dgm:t>
    </dgm:pt>
    <dgm:pt modelId="{D214607E-9942-4ACC-9798-0EF779310771}">
      <dgm:prSet phldrT="[Text]" custT="1"/>
      <dgm:spPr/>
      <dgm:t>
        <a:bodyPr/>
        <a:lstStyle/>
        <a:p>
          <a:r>
            <a:rPr lang="en-US" sz="1800" dirty="0"/>
            <a:t>Platform-mounted variants add a UAV–platform comms link</a:t>
          </a:r>
          <a:endParaRPr lang="en-IN" sz="1800" dirty="0"/>
        </a:p>
      </dgm:t>
    </dgm:pt>
    <dgm:pt modelId="{48557076-BBBC-4416-9E6B-FC60C5FAF454}" type="parTrans" cxnId="{3F365D16-E678-4BB7-AF43-DC552CC09AE0}">
      <dgm:prSet/>
      <dgm:spPr/>
      <dgm:t>
        <a:bodyPr/>
        <a:lstStyle/>
        <a:p>
          <a:endParaRPr lang="en-IN"/>
        </a:p>
      </dgm:t>
    </dgm:pt>
    <dgm:pt modelId="{6CB8382B-C262-40F6-A1ED-0EFB0A440DAC}" type="sibTrans" cxnId="{3F365D16-E678-4BB7-AF43-DC552CC09AE0}">
      <dgm:prSet/>
      <dgm:spPr/>
      <dgm:t>
        <a:bodyPr/>
        <a:lstStyle/>
        <a:p>
          <a:endParaRPr lang="en-IN"/>
        </a:p>
      </dgm:t>
    </dgm:pt>
    <dgm:pt modelId="{0A1845D8-5E17-4ECA-A6FD-4116940276FD}">
      <dgm:prSet phldrT="[Text]" custT="1"/>
      <dgm:spPr/>
      <dgm:t>
        <a:bodyPr/>
        <a:lstStyle/>
        <a:p>
          <a:r>
            <a:rPr lang="en-IN" sz="2000" dirty="0"/>
            <a:t>UWB </a:t>
          </a:r>
          <a:r>
            <a:rPr lang="en-US" sz="1400" dirty="0">
              <a:solidFill>
                <a:srgbClr val="FF0000"/>
              </a:solidFill>
              <a:latin typeface="+mn-lt"/>
              <a:ea typeface="+mn-ea"/>
              <a:cs typeface="+mn-cs"/>
            </a:rPr>
            <a:t>[Semenov 2025 IEEE SUMMA]</a:t>
          </a:r>
          <a:endParaRPr lang="en-IN" sz="2000" dirty="0">
            <a:solidFill>
              <a:srgbClr val="FF0000"/>
            </a:solidFill>
          </a:endParaRPr>
        </a:p>
      </dgm:t>
    </dgm:pt>
    <dgm:pt modelId="{1EB55793-31AA-498E-B6E2-3306BD74E077}" type="parTrans" cxnId="{9F255A50-1947-4C81-A904-2E44B196A21A}">
      <dgm:prSet/>
      <dgm:spPr/>
      <dgm:t>
        <a:bodyPr/>
        <a:lstStyle/>
        <a:p>
          <a:endParaRPr lang="en-IN"/>
        </a:p>
      </dgm:t>
    </dgm:pt>
    <dgm:pt modelId="{87E34C3B-F36B-43FC-9420-481C8CE584CD}" type="sibTrans" cxnId="{9F255A50-1947-4C81-A904-2E44B196A21A}">
      <dgm:prSet/>
      <dgm:spPr/>
      <dgm:t>
        <a:bodyPr/>
        <a:lstStyle/>
        <a:p>
          <a:endParaRPr lang="en-IN"/>
        </a:p>
      </dgm:t>
    </dgm:pt>
    <dgm:pt modelId="{4CAB3900-4942-49A9-8D4A-EB6390385BF6}">
      <dgm:prSet phldrT="[Text]" custT="1"/>
      <dgm:spPr/>
      <dgm:t>
        <a:bodyPr/>
        <a:lstStyle/>
        <a:p>
          <a:r>
            <a:rPr lang="en-IN" sz="1800" dirty="0"/>
            <a:t>Needs deployed anchor infrastructure</a:t>
          </a:r>
        </a:p>
      </dgm:t>
    </dgm:pt>
    <dgm:pt modelId="{0448B620-4060-4DE0-A524-BE44F62B5653}" type="parTrans" cxnId="{197F42EA-68A5-400D-85E7-0C4DB8BCC0DE}">
      <dgm:prSet/>
      <dgm:spPr/>
      <dgm:t>
        <a:bodyPr/>
        <a:lstStyle/>
        <a:p>
          <a:endParaRPr lang="en-IN"/>
        </a:p>
      </dgm:t>
    </dgm:pt>
    <dgm:pt modelId="{3ACD416D-883A-4AAD-8D83-9D867BC4358A}" type="sibTrans" cxnId="{197F42EA-68A5-400D-85E7-0C4DB8BCC0DE}">
      <dgm:prSet/>
      <dgm:spPr/>
      <dgm:t>
        <a:bodyPr/>
        <a:lstStyle/>
        <a:p>
          <a:endParaRPr lang="en-IN"/>
        </a:p>
      </dgm:t>
    </dgm:pt>
    <dgm:pt modelId="{BF09D13A-E349-4C2C-98C3-64C2690BA967}">
      <dgm:prSet phldrT="[Text]" custT="1"/>
      <dgm:spPr/>
      <dgm:t>
        <a:bodyPr/>
        <a:lstStyle/>
        <a:p>
          <a:r>
            <a:rPr lang="en-US" sz="1800" dirty="0"/>
            <a:t>Depends on anchor count/placement and radio-signal stability </a:t>
          </a:r>
          <a:endParaRPr lang="en-IN" sz="1800" dirty="0"/>
        </a:p>
      </dgm:t>
    </dgm:pt>
    <dgm:pt modelId="{0C591932-B48E-4912-B1E0-FF828F67965F}" type="parTrans" cxnId="{A8039F7D-C8BF-4555-BA12-E6F2A258D909}">
      <dgm:prSet/>
      <dgm:spPr/>
      <dgm:t>
        <a:bodyPr/>
        <a:lstStyle/>
        <a:p>
          <a:endParaRPr lang="en-IN"/>
        </a:p>
      </dgm:t>
    </dgm:pt>
    <dgm:pt modelId="{7D8156B8-C81D-476D-AA9D-55B17B10E6CF}" type="sibTrans" cxnId="{A8039F7D-C8BF-4555-BA12-E6F2A258D909}">
      <dgm:prSet/>
      <dgm:spPr/>
      <dgm:t>
        <a:bodyPr/>
        <a:lstStyle/>
        <a:p>
          <a:endParaRPr lang="en-IN"/>
        </a:p>
      </dgm:t>
    </dgm:pt>
    <dgm:pt modelId="{A0B1D4B2-0CA2-42D2-BEF2-CB1876C64FA8}" type="pres">
      <dgm:prSet presAssocID="{55FD6B39-A7AC-4935-A53A-1C7AD951AE80}" presName="linear" presStyleCnt="0">
        <dgm:presLayoutVars>
          <dgm:dir/>
          <dgm:resizeHandles val="exact"/>
        </dgm:presLayoutVars>
      </dgm:prSet>
      <dgm:spPr/>
    </dgm:pt>
    <dgm:pt modelId="{C3AB695D-2B13-4F6A-86AE-FD48CAE6E9D7}" type="pres">
      <dgm:prSet presAssocID="{0ECACF45-81F9-4A89-913E-10E603BF915C}" presName="comp" presStyleCnt="0"/>
      <dgm:spPr/>
    </dgm:pt>
    <dgm:pt modelId="{4A1FFF4F-433F-4065-90F9-8B83877EAE51}" type="pres">
      <dgm:prSet presAssocID="{0ECACF45-81F9-4A89-913E-10E603BF915C}" presName="box" presStyleLbl="node1" presStyleIdx="0" presStyleCnt="3"/>
      <dgm:spPr/>
    </dgm:pt>
    <dgm:pt modelId="{64E06A54-9724-4200-B6D1-C5FFD0C2B936}" type="pres">
      <dgm:prSet presAssocID="{0ECACF45-81F9-4A89-913E-10E603BF915C}" presName="img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</dgm:spPr>
    </dgm:pt>
    <dgm:pt modelId="{57DD6952-1261-48C7-AA6F-32EF5469A57E}" type="pres">
      <dgm:prSet presAssocID="{0ECACF45-81F9-4A89-913E-10E603BF915C}" presName="text" presStyleLbl="node1" presStyleIdx="0" presStyleCnt="3">
        <dgm:presLayoutVars>
          <dgm:bulletEnabled val="1"/>
        </dgm:presLayoutVars>
      </dgm:prSet>
      <dgm:spPr/>
    </dgm:pt>
    <dgm:pt modelId="{3E7E974B-03EC-4E45-BB43-CF22AD37F6C8}" type="pres">
      <dgm:prSet presAssocID="{08B68530-6F5D-45D7-8FFA-D555300E0D1B}" presName="spacer" presStyleCnt="0"/>
      <dgm:spPr/>
    </dgm:pt>
    <dgm:pt modelId="{66B2AEFA-7C96-4D45-9064-C7B4CA961095}" type="pres">
      <dgm:prSet presAssocID="{9C299CC7-A485-452A-88B5-D0A750422015}" presName="comp" presStyleCnt="0"/>
      <dgm:spPr/>
    </dgm:pt>
    <dgm:pt modelId="{9BF358DA-D16B-4029-8564-5E4A225B8DDF}" type="pres">
      <dgm:prSet presAssocID="{9C299CC7-A485-452A-88B5-D0A750422015}" presName="box" presStyleLbl="node1" presStyleIdx="1" presStyleCnt="3"/>
      <dgm:spPr/>
    </dgm:pt>
    <dgm:pt modelId="{DFE52A85-76EB-46ED-9316-CFCDA3E99643}" type="pres">
      <dgm:prSet presAssocID="{9C299CC7-A485-452A-88B5-D0A750422015}" presName="img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7000" r="-7000"/>
          </a:stretch>
        </a:blipFill>
      </dgm:spPr>
    </dgm:pt>
    <dgm:pt modelId="{2229B6C4-D031-43B0-A611-F078F7CD60E4}" type="pres">
      <dgm:prSet presAssocID="{9C299CC7-A485-452A-88B5-D0A750422015}" presName="text" presStyleLbl="node1" presStyleIdx="1" presStyleCnt="3">
        <dgm:presLayoutVars>
          <dgm:bulletEnabled val="1"/>
        </dgm:presLayoutVars>
      </dgm:prSet>
      <dgm:spPr/>
    </dgm:pt>
    <dgm:pt modelId="{BA22CAF1-C232-4E8D-80D6-9AD3210214EB}" type="pres">
      <dgm:prSet presAssocID="{F9BB9373-67E8-4F40-B348-2852837BE5C7}" presName="spacer" presStyleCnt="0"/>
      <dgm:spPr/>
    </dgm:pt>
    <dgm:pt modelId="{77942128-3C4C-4C90-8F9A-CEDD0646B061}" type="pres">
      <dgm:prSet presAssocID="{0A1845D8-5E17-4ECA-A6FD-4116940276FD}" presName="comp" presStyleCnt="0"/>
      <dgm:spPr/>
    </dgm:pt>
    <dgm:pt modelId="{62F57115-15CA-44DC-8D57-9ABA42D0A2B7}" type="pres">
      <dgm:prSet presAssocID="{0A1845D8-5E17-4ECA-A6FD-4116940276FD}" presName="box" presStyleLbl="node1" presStyleIdx="2" presStyleCnt="3" custLinFactNeighborX="-144"/>
      <dgm:spPr/>
    </dgm:pt>
    <dgm:pt modelId="{D7A1C60B-A89C-4D0E-BF50-EF4BC894FA31}" type="pres">
      <dgm:prSet presAssocID="{0A1845D8-5E17-4ECA-A6FD-4116940276FD}" presName="img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8000" r="-8000"/>
          </a:stretch>
        </a:blipFill>
      </dgm:spPr>
    </dgm:pt>
    <dgm:pt modelId="{54EA7843-3C83-48BC-8860-7A33980EA7B3}" type="pres">
      <dgm:prSet presAssocID="{0A1845D8-5E17-4ECA-A6FD-4116940276FD}" presName="text" presStyleLbl="node1" presStyleIdx="2" presStyleCnt="3">
        <dgm:presLayoutVars>
          <dgm:bulletEnabled val="1"/>
        </dgm:presLayoutVars>
      </dgm:prSet>
      <dgm:spPr/>
    </dgm:pt>
  </dgm:ptLst>
  <dgm:cxnLst>
    <dgm:cxn modelId="{6BECAA08-0B3A-407F-9BA4-E59BF1E75CEF}" type="presOf" srcId="{0ECACF45-81F9-4A89-913E-10E603BF915C}" destId="{57DD6952-1261-48C7-AA6F-32EF5469A57E}" srcOrd="1" destOrd="0" presId="urn:microsoft.com/office/officeart/2005/8/layout/vList4"/>
    <dgm:cxn modelId="{3F365D16-E678-4BB7-AF43-DC552CC09AE0}" srcId="{9C299CC7-A485-452A-88B5-D0A750422015}" destId="{D214607E-9942-4ACC-9798-0EF779310771}" srcOrd="1" destOrd="0" parTransId="{48557076-BBBC-4416-9E6B-FC60C5FAF454}" sibTransId="{6CB8382B-C262-40F6-A1ED-0EFB0A440DAC}"/>
    <dgm:cxn modelId="{71EBA72C-83B0-4512-99CE-56027D06D11B}" type="presOf" srcId="{D214607E-9942-4ACC-9798-0EF779310771}" destId="{9BF358DA-D16B-4029-8564-5E4A225B8DDF}" srcOrd="0" destOrd="2" presId="urn:microsoft.com/office/officeart/2005/8/layout/vList4"/>
    <dgm:cxn modelId="{9A4C902D-F3A2-4DDB-9E17-632DB980B4C3}" srcId="{55FD6B39-A7AC-4935-A53A-1C7AD951AE80}" destId="{0ECACF45-81F9-4A89-913E-10E603BF915C}" srcOrd="0" destOrd="0" parTransId="{878CE328-67ED-482C-BE71-5CD4BA1882F8}" sibTransId="{08B68530-6F5D-45D7-8FFA-D555300E0D1B}"/>
    <dgm:cxn modelId="{C26EAA2D-8C65-4E0B-9700-A85C64E020CB}" type="presOf" srcId="{CC5B6963-D3AE-49FD-B9FF-A9515F492E92}" destId="{4A1FFF4F-433F-4065-90F9-8B83877EAE51}" srcOrd="0" destOrd="1" presId="urn:microsoft.com/office/officeart/2005/8/layout/vList4"/>
    <dgm:cxn modelId="{2378EF3A-CF2C-493F-9A3A-EDA35A1DF6FC}" type="presOf" srcId="{4CAB3900-4942-49A9-8D4A-EB6390385BF6}" destId="{62F57115-15CA-44DC-8D57-9ABA42D0A2B7}" srcOrd="0" destOrd="1" presId="urn:microsoft.com/office/officeart/2005/8/layout/vList4"/>
    <dgm:cxn modelId="{0E423A3D-B406-438D-9FFE-84463037A1EC}" type="presOf" srcId="{0ECACF45-81F9-4A89-913E-10E603BF915C}" destId="{4A1FFF4F-433F-4065-90F9-8B83877EAE51}" srcOrd="0" destOrd="0" presId="urn:microsoft.com/office/officeart/2005/8/layout/vList4"/>
    <dgm:cxn modelId="{DE3A2146-EB5D-42B2-82C3-FB22395EC94A}" type="presOf" srcId="{D81FEF5F-5774-406D-9B18-868679B3C7A6}" destId="{9BF358DA-D16B-4029-8564-5E4A225B8DDF}" srcOrd="0" destOrd="1" presId="urn:microsoft.com/office/officeart/2005/8/layout/vList4"/>
    <dgm:cxn modelId="{28E13F66-7537-414E-A68F-B8D5E44ACF29}" type="presOf" srcId="{0A1845D8-5E17-4ECA-A6FD-4116940276FD}" destId="{54EA7843-3C83-48BC-8860-7A33980EA7B3}" srcOrd="1" destOrd="0" presId="urn:microsoft.com/office/officeart/2005/8/layout/vList4"/>
    <dgm:cxn modelId="{9017E56A-4E2B-4A48-8C3B-A46368B3B161}" type="presOf" srcId="{9C299CC7-A485-452A-88B5-D0A750422015}" destId="{9BF358DA-D16B-4029-8564-5E4A225B8DDF}" srcOrd="0" destOrd="0" presId="urn:microsoft.com/office/officeart/2005/8/layout/vList4"/>
    <dgm:cxn modelId="{F73B276F-EC81-4BA3-92D8-B77793C0631C}" type="presOf" srcId="{4CAB3900-4942-49A9-8D4A-EB6390385BF6}" destId="{54EA7843-3C83-48BC-8860-7A33980EA7B3}" srcOrd="1" destOrd="1" presId="urn:microsoft.com/office/officeart/2005/8/layout/vList4"/>
    <dgm:cxn modelId="{9F255A50-1947-4C81-A904-2E44B196A21A}" srcId="{55FD6B39-A7AC-4935-A53A-1C7AD951AE80}" destId="{0A1845D8-5E17-4ECA-A6FD-4116940276FD}" srcOrd="2" destOrd="0" parTransId="{1EB55793-31AA-498E-B6E2-3306BD74E077}" sibTransId="{87E34C3B-F36B-43FC-9420-481C8CE584CD}"/>
    <dgm:cxn modelId="{A8039F7D-C8BF-4555-BA12-E6F2A258D909}" srcId="{0A1845D8-5E17-4ECA-A6FD-4116940276FD}" destId="{BF09D13A-E349-4C2C-98C3-64C2690BA967}" srcOrd="1" destOrd="0" parTransId="{0C591932-B48E-4912-B1E0-FF828F67965F}" sibTransId="{7D8156B8-C81D-476D-AA9D-55B17B10E6CF}"/>
    <dgm:cxn modelId="{03C27683-AD33-4EB9-8520-178DD32D8112}" type="presOf" srcId="{BF09D13A-E349-4C2C-98C3-64C2690BA967}" destId="{62F57115-15CA-44DC-8D57-9ABA42D0A2B7}" srcOrd="0" destOrd="2" presId="urn:microsoft.com/office/officeart/2005/8/layout/vList4"/>
    <dgm:cxn modelId="{B318E188-C5FE-4B68-8C57-8AC61A83857E}" type="presOf" srcId="{BF09D13A-E349-4C2C-98C3-64C2690BA967}" destId="{54EA7843-3C83-48BC-8860-7A33980EA7B3}" srcOrd="1" destOrd="2" presId="urn:microsoft.com/office/officeart/2005/8/layout/vList4"/>
    <dgm:cxn modelId="{E51AED8F-A583-46D2-8558-494EA51637AC}" type="presOf" srcId="{9C299CC7-A485-452A-88B5-D0A750422015}" destId="{2229B6C4-D031-43B0-A611-F078F7CD60E4}" srcOrd="1" destOrd="0" presId="urn:microsoft.com/office/officeart/2005/8/layout/vList4"/>
    <dgm:cxn modelId="{26F81490-C82D-47A3-A210-993B70E87A1F}" type="presOf" srcId="{0A1845D8-5E17-4ECA-A6FD-4116940276FD}" destId="{62F57115-15CA-44DC-8D57-9ABA42D0A2B7}" srcOrd="0" destOrd="0" presId="urn:microsoft.com/office/officeart/2005/8/layout/vList4"/>
    <dgm:cxn modelId="{5E2EC5A4-9D4C-4AA6-A67D-9F2F86DA6D16}" srcId="{9C299CC7-A485-452A-88B5-D0A750422015}" destId="{D81FEF5F-5774-406D-9B18-868679B3C7A6}" srcOrd="0" destOrd="0" parTransId="{092220D7-340E-4BE6-998B-0EA620A4659F}" sibTransId="{4BF4459E-09C0-4EA0-BCFB-7519181D5A70}"/>
    <dgm:cxn modelId="{2C8767BE-CCCB-47AE-815F-D8C867BC0B4D}" srcId="{0ECACF45-81F9-4A89-913E-10E603BF915C}" destId="{CC5B6963-D3AE-49FD-B9FF-A9515F492E92}" srcOrd="0" destOrd="0" parTransId="{9C9FBC58-9753-4635-AFD1-028DB0B2DB06}" sibTransId="{FB5A8B81-9044-4126-AC9A-5C9FA9957382}"/>
    <dgm:cxn modelId="{77C071C5-E7FB-4C5F-8CD3-64552B78FBBD}" type="presOf" srcId="{CC5B6963-D3AE-49FD-B9FF-A9515F492E92}" destId="{57DD6952-1261-48C7-AA6F-32EF5469A57E}" srcOrd="1" destOrd="1" presId="urn:microsoft.com/office/officeart/2005/8/layout/vList4"/>
    <dgm:cxn modelId="{BAEE49C8-7392-4DB3-AFC9-9DE56EFA68A5}" type="presOf" srcId="{D81FEF5F-5774-406D-9B18-868679B3C7A6}" destId="{2229B6C4-D031-43B0-A611-F078F7CD60E4}" srcOrd="1" destOrd="1" presId="urn:microsoft.com/office/officeart/2005/8/layout/vList4"/>
    <dgm:cxn modelId="{3B2A20DE-6E4F-4D6A-A7FC-7B23C4BB3425}" type="presOf" srcId="{55FD6B39-A7AC-4935-A53A-1C7AD951AE80}" destId="{A0B1D4B2-0CA2-42D2-BEF2-CB1876C64FA8}" srcOrd="0" destOrd="0" presId="urn:microsoft.com/office/officeart/2005/8/layout/vList4"/>
    <dgm:cxn modelId="{CF2DCEE9-0B03-41DE-B871-E39EBF2BE485}" srcId="{55FD6B39-A7AC-4935-A53A-1C7AD951AE80}" destId="{9C299CC7-A485-452A-88B5-D0A750422015}" srcOrd="1" destOrd="0" parTransId="{6F4A8230-5568-4F7C-A6C6-8146A8FDE6E9}" sibTransId="{F9BB9373-67E8-4F40-B348-2852837BE5C7}"/>
    <dgm:cxn modelId="{197F42EA-68A5-400D-85E7-0C4DB8BCC0DE}" srcId="{0A1845D8-5E17-4ECA-A6FD-4116940276FD}" destId="{4CAB3900-4942-49A9-8D4A-EB6390385BF6}" srcOrd="0" destOrd="0" parTransId="{0448B620-4060-4DE0-A524-BE44F62B5653}" sibTransId="{3ACD416D-883A-4AAD-8D83-9D867BC4358A}"/>
    <dgm:cxn modelId="{B89676FC-42C0-4156-B488-A31200FB4B96}" type="presOf" srcId="{D214607E-9942-4ACC-9798-0EF779310771}" destId="{2229B6C4-D031-43B0-A611-F078F7CD60E4}" srcOrd="1" destOrd="2" presId="urn:microsoft.com/office/officeart/2005/8/layout/vList4"/>
    <dgm:cxn modelId="{0C96E244-47B7-43DC-9000-815A8728ADE7}" type="presParOf" srcId="{A0B1D4B2-0CA2-42D2-BEF2-CB1876C64FA8}" destId="{C3AB695D-2B13-4F6A-86AE-FD48CAE6E9D7}" srcOrd="0" destOrd="0" presId="urn:microsoft.com/office/officeart/2005/8/layout/vList4"/>
    <dgm:cxn modelId="{CCC71127-6189-43E5-A794-77E4BFBF3907}" type="presParOf" srcId="{C3AB695D-2B13-4F6A-86AE-FD48CAE6E9D7}" destId="{4A1FFF4F-433F-4065-90F9-8B83877EAE51}" srcOrd="0" destOrd="0" presId="urn:microsoft.com/office/officeart/2005/8/layout/vList4"/>
    <dgm:cxn modelId="{43C6206E-AE3D-4980-82BA-153B624351EB}" type="presParOf" srcId="{C3AB695D-2B13-4F6A-86AE-FD48CAE6E9D7}" destId="{64E06A54-9724-4200-B6D1-C5FFD0C2B936}" srcOrd="1" destOrd="0" presId="urn:microsoft.com/office/officeart/2005/8/layout/vList4"/>
    <dgm:cxn modelId="{31AE7EAF-0859-4F7F-9420-FD6EE5B4AB7C}" type="presParOf" srcId="{C3AB695D-2B13-4F6A-86AE-FD48CAE6E9D7}" destId="{57DD6952-1261-48C7-AA6F-32EF5469A57E}" srcOrd="2" destOrd="0" presId="urn:microsoft.com/office/officeart/2005/8/layout/vList4"/>
    <dgm:cxn modelId="{25A794B5-AD75-4469-A941-1763BE2337B3}" type="presParOf" srcId="{A0B1D4B2-0CA2-42D2-BEF2-CB1876C64FA8}" destId="{3E7E974B-03EC-4E45-BB43-CF22AD37F6C8}" srcOrd="1" destOrd="0" presId="urn:microsoft.com/office/officeart/2005/8/layout/vList4"/>
    <dgm:cxn modelId="{B24D0D99-3829-4A2D-B957-25DC40BA5748}" type="presParOf" srcId="{A0B1D4B2-0CA2-42D2-BEF2-CB1876C64FA8}" destId="{66B2AEFA-7C96-4D45-9064-C7B4CA961095}" srcOrd="2" destOrd="0" presId="urn:microsoft.com/office/officeart/2005/8/layout/vList4"/>
    <dgm:cxn modelId="{4ABD3004-8B93-4D4F-B639-EF33F5421C4F}" type="presParOf" srcId="{66B2AEFA-7C96-4D45-9064-C7B4CA961095}" destId="{9BF358DA-D16B-4029-8564-5E4A225B8DDF}" srcOrd="0" destOrd="0" presId="urn:microsoft.com/office/officeart/2005/8/layout/vList4"/>
    <dgm:cxn modelId="{E91749E6-ABF7-4D13-9236-351E26F71C95}" type="presParOf" srcId="{66B2AEFA-7C96-4D45-9064-C7B4CA961095}" destId="{DFE52A85-76EB-46ED-9316-CFCDA3E99643}" srcOrd="1" destOrd="0" presId="urn:microsoft.com/office/officeart/2005/8/layout/vList4"/>
    <dgm:cxn modelId="{6269F603-130D-4555-BFB7-CD0C062C2F0D}" type="presParOf" srcId="{66B2AEFA-7C96-4D45-9064-C7B4CA961095}" destId="{2229B6C4-D031-43B0-A611-F078F7CD60E4}" srcOrd="2" destOrd="0" presId="urn:microsoft.com/office/officeart/2005/8/layout/vList4"/>
    <dgm:cxn modelId="{FC150B1D-B8C2-47C1-B716-E16AD3AD1F12}" type="presParOf" srcId="{A0B1D4B2-0CA2-42D2-BEF2-CB1876C64FA8}" destId="{BA22CAF1-C232-4E8D-80D6-9AD3210214EB}" srcOrd="3" destOrd="0" presId="urn:microsoft.com/office/officeart/2005/8/layout/vList4"/>
    <dgm:cxn modelId="{9C8261D5-BCEB-4D96-80C9-14F62D7E5941}" type="presParOf" srcId="{A0B1D4B2-0CA2-42D2-BEF2-CB1876C64FA8}" destId="{77942128-3C4C-4C90-8F9A-CEDD0646B061}" srcOrd="4" destOrd="0" presId="urn:microsoft.com/office/officeart/2005/8/layout/vList4"/>
    <dgm:cxn modelId="{2B4A2904-48FF-4A4B-96F1-7858C997C223}" type="presParOf" srcId="{77942128-3C4C-4C90-8F9A-CEDD0646B061}" destId="{62F57115-15CA-44DC-8D57-9ABA42D0A2B7}" srcOrd="0" destOrd="0" presId="urn:microsoft.com/office/officeart/2005/8/layout/vList4"/>
    <dgm:cxn modelId="{6EB06588-5BE8-4736-8782-5E9B73615EB0}" type="presParOf" srcId="{77942128-3C4C-4C90-8F9A-CEDD0646B061}" destId="{D7A1C60B-A89C-4D0E-BF50-EF4BC894FA31}" srcOrd="1" destOrd="0" presId="urn:microsoft.com/office/officeart/2005/8/layout/vList4"/>
    <dgm:cxn modelId="{F8D1CCA6-9D6A-47D6-A457-02256B302E30}" type="presParOf" srcId="{77942128-3C4C-4C90-8F9A-CEDD0646B061}" destId="{54EA7843-3C83-48BC-8860-7A33980EA7B3}" srcOrd="2" destOrd="0" presId="urn:microsoft.com/office/officeart/2005/8/layout/vList4"/>
  </dgm:cxnLst>
  <dgm:bg/>
  <dgm:whole>
    <a:ln w="76200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3311A9-D379-437E-91B5-5FC3E67ABD54}" type="doc">
      <dgm:prSet loTypeId="urn:microsoft.com/office/officeart/2005/8/layout/vList4" loCatId="pictur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CF679D76-F68E-4411-B1F0-1BCBDF4B006E}">
      <dgm:prSet phldrT="[Text]" phldr="0" custT="1"/>
      <dgm:spPr/>
      <dgm:t>
        <a:bodyPr/>
        <a:lstStyle/>
        <a:p>
          <a:r>
            <a:rPr lang="en-IN" sz="2000" dirty="0"/>
            <a:t>Stereo Camera</a:t>
          </a:r>
          <a:r>
            <a:rPr lang="en-IN" sz="2100" dirty="0"/>
            <a:t> </a:t>
          </a:r>
          <a:r>
            <a:rPr lang="en-US" sz="1400" dirty="0">
              <a:solidFill>
                <a:srgbClr val="FF0000"/>
              </a:solidFill>
            </a:rPr>
            <a:t>[Benini 2018 Control Theory Tech.]</a:t>
          </a:r>
          <a:endParaRPr lang="en-IN" sz="2100" dirty="0">
            <a:solidFill>
              <a:srgbClr val="FF0000"/>
            </a:solidFill>
          </a:endParaRPr>
        </a:p>
      </dgm:t>
    </dgm:pt>
    <dgm:pt modelId="{EDFED266-2BF4-41F3-BA29-E3897C286E2D}" type="parTrans" cxnId="{ED9270F1-B353-4C9C-9DDD-8F81A047DC5B}">
      <dgm:prSet/>
      <dgm:spPr/>
      <dgm:t>
        <a:bodyPr/>
        <a:lstStyle/>
        <a:p>
          <a:endParaRPr lang="en-IN"/>
        </a:p>
      </dgm:t>
    </dgm:pt>
    <dgm:pt modelId="{C48AE638-E148-4A91-B9ED-E446C0131226}" type="sibTrans" cxnId="{ED9270F1-B353-4C9C-9DDD-8F81A047DC5B}">
      <dgm:prSet/>
      <dgm:spPr/>
      <dgm:t>
        <a:bodyPr/>
        <a:lstStyle/>
        <a:p>
          <a:endParaRPr lang="en-IN"/>
        </a:p>
      </dgm:t>
    </dgm:pt>
    <dgm:pt modelId="{3A1DA389-32A3-4AFD-B4BA-70DE6BEA3610}">
      <dgm:prSet phldrT="[Text]" custT="1"/>
      <dgm:spPr/>
      <dgm:t>
        <a:bodyPr/>
        <a:lstStyle/>
        <a:p>
          <a:r>
            <a:rPr lang="en-IN" sz="1800" dirty="0"/>
            <a:t>Added </a:t>
          </a:r>
          <a:r>
            <a:rPr lang="en-IN" sz="1800" dirty="0" err="1"/>
            <a:t>SWaP</a:t>
          </a:r>
          <a:r>
            <a:rPr lang="en-IN" sz="1800" dirty="0"/>
            <a:t>-C and compute</a:t>
          </a:r>
        </a:p>
      </dgm:t>
    </dgm:pt>
    <dgm:pt modelId="{39F28AC5-EC85-4123-9323-7B138CC471B1}" type="parTrans" cxnId="{DB88C8A8-53EF-4A40-8D1E-BBE1909B9600}">
      <dgm:prSet/>
      <dgm:spPr/>
      <dgm:t>
        <a:bodyPr/>
        <a:lstStyle/>
        <a:p>
          <a:endParaRPr lang="en-IN"/>
        </a:p>
      </dgm:t>
    </dgm:pt>
    <dgm:pt modelId="{C974CF2D-051E-492C-86EA-6DBA3DADFB29}" type="sibTrans" cxnId="{DB88C8A8-53EF-4A40-8D1E-BBE1909B9600}">
      <dgm:prSet/>
      <dgm:spPr/>
      <dgm:t>
        <a:bodyPr/>
        <a:lstStyle/>
        <a:p>
          <a:endParaRPr lang="en-IN"/>
        </a:p>
      </dgm:t>
    </dgm:pt>
    <dgm:pt modelId="{8978B882-31CC-4CD2-BF2D-C25568570CD9}">
      <dgm:prSet phldrT="[Text]" custT="1"/>
      <dgm:spPr/>
      <dgm:t>
        <a:bodyPr/>
        <a:lstStyle/>
        <a:p>
          <a:r>
            <a:rPr lang="en-US" sz="1800" dirty="0"/>
            <a:t>Payload/endurance penalty on small UAVs</a:t>
          </a:r>
          <a:endParaRPr lang="en-IN" sz="1800" dirty="0"/>
        </a:p>
      </dgm:t>
    </dgm:pt>
    <dgm:pt modelId="{A7942304-A884-4490-9067-D064075FE5DA}" type="parTrans" cxnId="{A9ABEE95-A977-4731-AB72-23B36F4126CB}">
      <dgm:prSet/>
      <dgm:spPr/>
      <dgm:t>
        <a:bodyPr/>
        <a:lstStyle/>
        <a:p>
          <a:endParaRPr lang="en-IN"/>
        </a:p>
      </dgm:t>
    </dgm:pt>
    <dgm:pt modelId="{4C252F4E-C844-4029-AE55-447C94A50EE8}" type="sibTrans" cxnId="{A9ABEE95-A977-4731-AB72-23B36F4126CB}">
      <dgm:prSet/>
      <dgm:spPr/>
      <dgm:t>
        <a:bodyPr/>
        <a:lstStyle/>
        <a:p>
          <a:endParaRPr lang="en-IN"/>
        </a:p>
      </dgm:t>
    </dgm:pt>
    <dgm:pt modelId="{642F4CF6-86BE-4808-ADFC-338CFE9123B4}">
      <dgm:prSet phldrT="[Text]" phldr="0" custT="1"/>
      <dgm:spPr/>
      <dgm:t>
        <a:bodyPr/>
        <a:lstStyle/>
        <a:p>
          <a:r>
            <a:rPr lang="en-IN" sz="2000" dirty="0"/>
            <a:t>Monocular Camera</a:t>
          </a:r>
          <a:r>
            <a:rPr lang="en-IN" sz="2100" dirty="0"/>
            <a:t> </a:t>
          </a:r>
          <a:r>
            <a:rPr lang="en-US" sz="1400" dirty="0">
              <a:solidFill>
                <a:srgbClr val="FF0000"/>
              </a:solidFill>
            </a:rPr>
            <a:t>[Nguyen 2026 Springer ICCIES]</a:t>
          </a:r>
          <a:r>
            <a:rPr lang="en-IN" sz="1400" dirty="0">
              <a:solidFill>
                <a:srgbClr val="FF0000"/>
              </a:solidFill>
            </a:rPr>
            <a:t> </a:t>
          </a:r>
          <a:endParaRPr lang="en-IN" sz="2100" dirty="0">
            <a:solidFill>
              <a:srgbClr val="FF0000"/>
            </a:solidFill>
          </a:endParaRPr>
        </a:p>
      </dgm:t>
    </dgm:pt>
    <dgm:pt modelId="{8A37DE13-2209-461B-A79B-A00F44025F82}" type="parTrans" cxnId="{33BD2EE1-41DD-4D97-A120-19B4D2BD6484}">
      <dgm:prSet/>
      <dgm:spPr/>
      <dgm:t>
        <a:bodyPr/>
        <a:lstStyle/>
        <a:p>
          <a:endParaRPr lang="en-IN"/>
        </a:p>
      </dgm:t>
    </dgm:pt>
    <dgm:pt modelId="{82A4D1E0-42BF-43A4-8AAE-07BDFC1E540E}" type="sibTrans" cxnId="{33BD2EE1-41DD-4D97-A120-19B4D2BD6484}">
      <dgm:prSet/>
      <dgm:spPr/>
      <dgm:t>
        <a:bodyPr/>
        <a:lstStyle/>
        <a:p>
          <a:endParaRPr lang="en-IN"/>
        </a:p>
      </dgm:t>
    </dgm:pt>
    <dgm:pt modelId="{3969E12D-DF57-4CBD-AE5C-B8C4E059F181}">
      <dgm:prSet phldrT="[Text]" custT="1"/>
      <dgm:spPr/>
      <dgm:t>
        <a:bodyPr/>
        <a:lstStyle/>
        <a:p>
          <a:r>
            <a:rPr lang="en-IN" sz="1800" dirty="0"/>
            <a:t>Minimal </a:t>
          </a:r>
          <a:r>
            <a:rPr lang="en-IN" sz="1800" dirty="0" err="1"/>
            <a:t>SWaP</a:t>
          </a:r>
          <a:endParaRPr lang="en-IN" sz="1800" dirty="0"/>
        </a:p>
      </dgm:t>
    </dgm:pt>
    <dgm:pt modelId="{1EAACE95-0848-44AE-97BE-9CFFC3965BC6}" type="parTrans" cxnId="{9B019EEC-C293-4585-8505-B756BBCD56DF}">
      <dgm:prSet/>
      <dgm:spPr/>
      <dgm:t>
        <a:bodyPr/>
        <a:lstStyle/>
        <a:p>
          <a:endParaRPr lang="en-IN"/>
        </a:p>
      </dgm:t>
    </dgm:pt>
    <dgm:pt modelId="{2CEB788E-E3A7-4FD6-9CB5-1346828F4A01}" type="sibTrans" cxnId="{9B019EEC-C293-4585-8505-B756BBCD56DF}">
      <dgm:prSet/>
      <dgm:spPr/>
      <dgm:t>
        <a:bodyPr/>
        <a:lstStyle/>
        <a:p>
          <a:endParaRPr lang="en-IN"/>
        </a:p>
      </dgm:t>
    </dgm:pt>
    <dgm:pt modelId="{1DE469A1-E3C3-445F-9FCB-ADA17CD09334}">
      <dgm:prSet phldrT="[Text]" custT="1"/>
      <dgm:spPr/>
      <dgm:t>
        <a:bodyPr/>
        <a:lstStyle/>
        <a:p>
          <a:r>
            <a:rPr lang="en-US" sz="1800" dirty="0"/>
            <a:t>Only weakness is scale ambiguity </a:t>
          </a:r>
          <a:endParaRPr lang="en-IN" sz="1800" dirty="0"/>
        </a:p>
      </dgm:t>
    </dgm:pt>
    <dgm:pt modelId="{75385774-9EE7-4A11-A2EC-AAB047329D07}" type="parTrans" cxnId="{0FD2E824-AB66-4BE7-B55B-7290C0A158C8}">
      <dgm:prSet/>
      <dgm:spPr/>
      <dgm:t>
        <a:bodyPr/>
        <a:lstStyle/>
        <a:p>
          <a:endParaRPr lang="en-IN"/>
        </a:p>
      </dgm:t>
    </dgm:pt>
    <dgm:pt modelId="{0C28F502-87A9-4C16-B66B-6CBEED31A157}" type="sibTrans" cxnId="{0FD2E824-AB66-4BE7-B55B-7290C0A158C8}">
      <dgm:prSet/>
      <dgm:spPr/>
      <dgm:t>
        <a:bodyPr/>
        <a:lstStyle/>
        <a:p>
          <a:endParaRPr lang="en-IN"/>
        </a:p>
      </dgm:t>
    </dgm:pt>
    <dgm:pt modelId="{E477FE4D-A5BE-4ED6-A9D6-82FC0C2F6EAF}" type="pres">
      <dgm:prSet presAssocID="{B83311A9-D379-437E-91B5-5FC3E67ABD54}" presName="linear" presStyleCnt="0">
        <dgm:presLayoutVars>
          <dgm:dir/>
          <dgm:resizeHandles val="exact"/>
        </dgm:presLayoutVars>
      </dgm:prSet>
      <dgm:spPr/>
    </dgm:pt>
    <dgm:pt modelId="{FB72AA9B-9099-4411-A60D-AE93C0E06F73}" type="pres">
      <dgm:prSet presAssocID="{CF679D76-F68E-4411-B1F0-1BCBDF4B006E}" presName="comp" presStyleCnt="0"/>
      <dgm:spPr/>
    </dgm:pt>
    <dgm:pt modelId="{7A73EEA4-6024-44C0-8BB3-2E4AC2CF9F2A}" type="pres">
      <dgm:prSet presAssocID="{CF679D76-F68E-4411-B1F0-1BCBDF4B006E}" presName="box" presStyleLbl="node1" presStyleIdx="0" presStyleCnt="2" custLinFactNeighborY="-602"/>
      <dgm:spPr/>
    </dgm:pt>
    <dgm:pt modelId="{E979254F-EFAD-4B63-B263-4F4EFCCC5E47}" type="pres">
      <dgm:prSet presAssocID="{CF679D76-F68E-4411-B1F0-1BCBDF4B006E}" presName="img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l="-5000" r="-5000"/>
          </a:stretch>
        </a:blipFill>
      </dgm:spPr>
    </dgm:pt>
    <dgm:pt modelId="{66B67694-4DDB-4FE8-B4EA-DFA879FCC3E6}" type="pres">
      <dgm:prSet presAssocID="{CF679D76-F68E-4411-B1F0-1BCBDF4B006E}" presName="text" presStyleLbl="node1" presStyleIdx="0" presStyleCnt="2">
        <dgm:presLayoutVars>
          <dgm:bulletEnabled val="1"/>
        </dgm:presLayoutVars>
      </dgm:prSet>
      <dgm:spPr/>
    </dgm:pt>
    <dgm:pt modelId="{A06FB6E5-561E-458B-BB2B-BE5711FBDFB4}" type="pres">
      <dgm:prSet presAssocID="{C48AE638-E148-4A91-B9ED-E446C0131226}" presName="spacer" presStyleCnt="0"/>
      <dgm:spPr/>
    </dgm:pt>
    <dgm:pt modelId="{5AE2F334-F52A-4CAA-81C0-786549998D70}" type="pres">
      <dgm:prSet presAssocID="{642F4CF6-86BE-4808-ADFC-338CFE9123B4}" presName="comp" presStyleCnt="0"/>
      <dgm:spPr/>
    </dgm:pt>
    <dgm:pt modelId="{31712E57-1B2C-4C95-BB5E-E6D8781DB942}" type="pres">
      <dgm:prSet presAssocID="{642F4CF6-86BE-4808-ADFC-338CFE9123B4}" presName="box" presStyleLbl="node1" presStyleIdx="1" presStyleCnt="2"/>
      <dgm:spPr/>
    </dgm:pt>
    <dgm:pt modelId="{9A02910A-8CE1-4B3E-8DC4-29C7C59E23C9}" type="pres">
      <dgm:prSet presAssocID="{642F4CF6-86BE-4808-ADFC-338CFE9123B4}" presName="img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 l="-10000" r="-10000"/>
          </a:stretch>
        </a:blipFill>
      </dgm:spPr>
    </dgm:pt>
    <dgm:pt modelId="{C4F9E6A7-6ED5-4060-832F-7DA87F56FCC7}" type="pres">
      <dgm:prSet presAssocID="{642F4CF6-86BE-4808-ADFC-338CFE9123B4}" presName="text" presStyleLbl="node1" presStyleIdx="1" presStyleCnt="2">
        <dgm:presLayoutVars>
          <dgm:bulletEnabled val="1"/>
        </dgm:presLayoutVars>
      </dgm:prSet>
      <dgm:spPr/>
    </dgm:pt>
  </dgm:ptLst>
  <dgm:cxnLst>
    <dgm:cxn modelId="{7058D907-7490-45C7-A1FC-5960948C41F6}" type="presOf" srcId="{642F4CF6-86BE-4808-ADFC-338CFE9123B4}" destId="{C4F9E6A7-6ED5-4060-832F-7DA87F56FCC7}" srcOrd="1" destOrd="0" presId="urn:microsoft.com/office/officeart/2005/8/layout/vList4"/>
    <dgm:cxn modelId="{0BD5B214-54CD-4E83-ABE1-FC3D820927BC}" type="presOf" srcId="{1DE469A1-E3C3-445F-9FCB-ADA17CD09334}" destId="{C4F9E6A7-6ED5-4060-832F-7DA87F56FCC7}" srcOrd="1" destOrd="2" presId="urn:microsoft.com/office/officeart/2005/8/layout/vList4"/>
    <dgm:cxn modelId="{0FD2E824-AB66-4BE7-B55B-7290C0A158C8}" srcId="{642F4CF6-86BE-4808-ADFC-338CFE9123B4}" destId="{1DE469A1-E3C3-445F-9FCB-ADA17CD09334}" srcOrd="1" destOrd="0" parTransId="{75385774-9EE7-4A11-A2EC-AAB047329D07}" sibTransId="{0C28F502-87A9-4C16-B66B-6CBEED31A157}"/>
    <dgm:cxn modelId="{D8573A2F-89FF-4A68-9E80-0640ABBC41B4}" type="presOf" srcId="{3969E12D-DF57-4CBD-AE5C-B8C4E059F181}" destId="{C4F9E6A7-6ED5-4060-832F-7DA87F56FCC7}" srcOrd="1" destOrd="1" presId="urn:microsoft.com/office/officeart/2005/8/layout/vList4"/>
    <dgm:cxn modelId="{F416DC5A-1265-474C-B522-673A94ACA3D9}" type="presOf" srcId="{642F4CF6-86BE-4808-ADFC-338CFE9123B4}" destId="{31712E57-1B2C-4C95-BB5E-E6D8781DB942}" srcOrd="0" destOrd="0" presId="urn:microsoft.com/office/officeart/2005/8/layout/vList4"/>
    <dgm:cxn modelId="{5CFCBA7C-D56C-4907-A2C5-69D930C77E3B}" type="presOf" srcId="{3969E12D-DF57-4CBD-AE5C-B8C4E059F181}" destId="{31712E57-1B2C-4C95-BB5E-E6D8781DB942}" srcOrd="0" destOrd="1" presId="urn:microsoft.com/office/officeart/2005/8/layout/vList4"/>
    <dgm:cxn modelId="{5D405B89-158B-4C3B-867B-008C1982E30E}" type="presOf" srcId="{3A1DA389-32A3-4AFD-B4BA-70DE6BEA3610}" destId="{66B67694-4DDB-4FE8-B4EA-DFA879FCC3E6}" srcOrd="1" destOrd="1" presId="urn:microsoft.com/office/officeart/2005/8/layout/vList4"/>
    <dgm:cxn modelId="{A9ABEE95-A977-4731-AB72-23B36F4126CB}" srcId="{CF679D76-F68E-4411-B1F0-1BCBDF4B006E}" destId="{8978B882-31CC-4CD2-BF2D-C25568570CD9}" srcOrd="1" destOrd="0" parTransId="{A7942304-A884-4490-9067-D064075FE5DA}" sibTransId="{4C252F4E-C844-4029-AE55-447C94A50EE8}"/>
    <dgm:cxn modelId="{A84D119C-D248-4928-956F-1523E1992D96}" type="presOf" srcId="{CF679D76-F68E-4411-B1F0-1BCBDF4B006E}" destId="{66B67694-4DDB-4FE8-B4EA-DFA879FCC3E6}" srcOrd="1" destOrd="0" presId="urn:microsoft.com/office/officeart/2005/8/layout/vList4"/>
    <dgm:cxn modelId="{DB88C8A8-53EF-4A40-8D1E-BBE1909B9600}" srcId="{CF679D76-F68E-4411-B1F0-1BCBDF4B006E}" destId="{3A1DA389-32A3-4AFD-B4BA-70DE6BEA3610}" srcOrd="0" destOrd="0" parTransId="{39F28AC5-EC85-4123-9323-7B138CC471B1}" sibTransId="{C974CF2D-051E-492C-86EA-6DBA3DADFB29}"/>
    <dgm:cxn modelId="{1B9220BC-97B7-41C0-8771-289BE5B1F844}" type="presOf" srcId="{3A1DA389-32A3-4AFD-B4BA-70DE6BEA3610}" destId="{7A73EEA4-6024-44C0-8BB3-2E4AC2CF9F2A}" srcOrd="0" destOrd="1" presId="urn:microsoft.com/office/officeart/2005/8/layout/vList4"/>
    <dgm:cxn modelId="{CC13A5D4-7DE6-46E9-8863-CD847FF68859}" type="presOf" srcId="{8978B882-31CC-4CD2-BF2D-C25568570CD9}" destId="{7A73EEA4-6024-44C0-8BB3-2E4AC2CF9F2A}" srcOrd="0" destOrd="2" presId="urn:microsoft.com/office/officeart/2005/8/layout/vList4"/>
    <dgm:cxn modelId="{5EBB00D9-0EB1-4485-93B5-D4411FA1BE74}" type="presOf" srcId="{CF679D76-F68E-4411-B1F0-1BCBDF4B006E}" destId="{7A73EEA4-6024-44C0-8BB3-2E4AC2CF9F2A}" srcOrd="0" destOrd="0" presId="urn:microsoft.com/office/officeart/2005/8/layout/vList4"/>
    <dgm:cxn modelId="{FF14D9DA-7020-4B35-BB12-21302B12DBE1}" type="presOf" srcId="{B83311A9-D379-437E-91B5-5FC3E67ABD54}" destId="{E477FE4D-A5BE-4ED6-A9D6-82FC0C2F6EAF}" srcOrd="0" destOrd="0" presId="urn:microsoft.com/office/officeart/2005/8/layout/vList4"/>
    <dgm:cxn modelId="{E10A72E0-6230-4038-8317-5564217F5B47}" type="presOf" srcId="{1DE469A1-E3C3-445F-9FCB-ADA17CD09334}" destId="{31712E57-1B2C-4C95-BB5E-E6D8781DB942}" srcOrd="0" destOrd="2" presId="urn:microsoft.com/office/officeart/2005/8/layout/vList4"/>
    <dgm:cxn modelId="{33BD2EE1-41DD-4D97-A120-19B4D2BD6484}" srcId="{B83311A9-D379-437E-91B5-5FC3E67ABD54}" destId="{642F4CF6-86BE-4808-ADFC-338CFE9123B4}" srcOrd="1" destOrd="0" parTransId="{8A37DE13-2209-461B-A79B-A00F44025F82}" sibTransId="{82A4D1E0-42BF-43A4-8AAE-07BDFC1E540E}"/>
    <dgm:cxn modelId="{9B019EEC-C293-4585-8505-B756BBCD56DF}" srcId="{642F4CF6-86BE-4808-ADFC-338CFE9123B4}" destId="{3969E12D-DF57-4CBD-AE5C-B8C4E059F181}" srcOrd="0" destOrd="0" parTransId="{1EAACE95-0848-44AE-97BE-9CFFC3965BC6}" sibTransId="{2CEB788E-E3A7-4FD6-9CB5-1346828F4A01}"/>
    <dgm:cxn modelId="{ED9270F1-B353-4C9C-9DDD-8F81A047DC5B}" srcId="{B83311A9-D379-437E-91B5-5FC3E67ABD54}" destId="{CF679D76-F68E-4411-B1F0-1BCBDF4B006E}" srcOrd="0" destOrd="0" parTransId="{EDFED266-2BF4-41F3-BA29-E3897C286E2D}" sibTransId="{C48AE638-E148-4A91-B9ED-E446C0131226}"/>
    <dgm:cxn modelId="{0B2443FA-D144-44F4-A0A6-306FE4A693E8}" type="presOf" srcId="{8978B882-31CC-4CD2-BF2D-C25568570CD9}" destId="{66B67694-4DDB-4FE8-B4EA-DFA879FCC3E6}" srcOrd="1" destOrd="2" presId="urn:microsoft.com/office/officeart/2005/8/layout/vList4"/>
    <dgm:cxn modelId="{DFE701F3-5914-42EE-9868-0EA69965E55B}" type="presParOf" srcId="{E477FE4D-A5BE-4ED6-A9D6-82FC0C2F6EAF}" destId="{FB72AA9B-9099-4411-A60D-AE93C0E06F73}" srcOrd="0" destOrd="0" presId="urn:microsoft.com/office/officeart/2005/8/layout/vList4"/>
    <dgm:cxn modelId="{EF63D318-2C72-4C6A-81A1-F513C95F6393}" type="presParOf" srcId="{FB72AA9B-9099-4411-A60D-AE93C0E06F73}" destId="{7A73EEA4-6024-44C0-8BB3-2E4AC2CF9F2A}" srcOrd="0" destOrd="0" presId="urn:microsoft.com/office/officeart/2005/8/layout/vList4"/>
    <dgm:cxn modelId="{F6DF8CC0-B23A-4991-8867-9B7C758C7FED}" type="presParOf" srcId="{FB72AA9B-9099-4411-A60D-AE93C0E06F73}" destId="{E979254F-EFAD-4B63-B263-4F4EFCCC5E47}" srcOrd="1" destOrd="0" presId="urn:microsoft.com/office/officeart/2005/8/layout/vList4"/>
    <dgm:cxn modelId="{9F344295-C8D7-40B3-A0B0-773BC50318E4}" type="presParOf" srcId="{FB72AA9B-9099-4411-A60D-AE93C0E06F73}" destId="{66B67694-4DDB-4FE8-B4EA-DFA879FCC3E6}" srcOrd="2" destOrd="0" presId="urn:microsoft.com/office/officeart/2005/8/layout/vList4"/>
    <dgm:cxn modelId="{29E8BD3D-DA2B-450D-B02D-93AC6CB0F7DC}" type="presParOf" srcId="{E477FE4D-A5BE-4ED6-A9D6-82FC0C2F6EAF}" destId="{A06FB6E5-561E-458B-BB2B-BE5711FBDFB4}" srcOrd="1" destOrd="0" presId="urn:microsoft.com/office/officeart/2005/8/layout/vList4"/>
    <dgm:cxn modelId="{D9156165-7AF2-4FCD-B255-029D431FD4E6}" type="presParOf" srcId="{E477FE4D-A5BE-4ED6-A9D6-82FC0C2F6EAF}" destId="{5AE2F334-F52A-4CAA-81C0-786549998D70}" srcOrd="2" destOrd="0" presId="urn:microsoft.com/office/officeart/2005/8/layout/vList4"/>
    <dgm:cxn modelId="{CF24958B-93F7-4C11-A935-A4FDA2E9C390}" type="presParOf" srcId="{5AE2F334-F52A-4CAA-81C0-786549998D70}" destId="{31712E57-1B2C-4C95-BB5E-E6D8781DB942}" srcOrd="0" destOrd="0" presId="urn:microsoft.com/office/officeart/2005/8/layout/vList4"/>
    <dgm:cxn modelId="{67E553CA-95BE-4C2F-B745-2779904E42A8}" type="presParOf" srcId="{5AE2F334-F52A-4CAA-81C0-786549998D70}" destId="{9A02910A-8CE1-4B3E-8DC4-29C7C59E23C9}" srcOrd="1" destOrd="0" presId="urn:microsoft.com/office/officeart/2005/8/layout/vList4"/>
    <dgm:cxn modelId="{A909402B-EFE6-4F06-916E-97767238C476}" type="presParOf" srcId="{5AE2F334-F52A-4CAA-81C0-786549998D70}" destId="{C4F9E6A7-6ED5-4060-832F-7DA87F56FCC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1FFF4F-433F-4065-90F9-8B83877EAE51}">
      <dsp:nvSpPr>
        <dsp:cNvPr id="0" name=""/>
        <dsp:cNvSpPr/>
      </dsp:nvSpPr>
      <dsp:spPr>
        <a:xfrm>
          <a:off x="0" y="0"/>
          <a:ext cx="5760000" cy="1360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INS + GNSS</a:t>
          </a:r>
          <a:r>
            <a:rPr lang="en-IN" sz="1800" kern="1200" dirty="0"/>
            <a:t> </a:t>
          </a:r>
          <a:r>
            <a:rPr lang="en-US" sz="1400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[Marcon 2018 IEEE PIERS]</a:t>
          </a:r>
          <a:endParaRPr lang="en-IN" sz="1400" kern="1200" dirty="0">
            <a:solidFill>
              <a:srgbClr val="FF0000"/>
            </a:solidFill>
            <a:latin typeface="+mn-lt"/>
            <a:ea typeface="+mn-ea"/>
            <a:cs typeface="+mn-c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</a:t>
          </a:r>
          <a:r>
            <a:rPr lang="en-US" sz="1800" kern="1200" dirty="0"/>
            <a:t>Denied indoors, urban-canyon, and obstructed sites</a:t>
          </a:r>
          <a:endParaRPr lang="en-IN" sz="1400" kern="1200" dirty="0"/>
        </a:p>
      </dsp:txBody>
      <dsp:txXfrm>
        <a:off x="1288028" y="0"/>
        <a:ext cx="4471971" cy="1360289"/>
      </dsp:txXfrm>
    </dsp:sp>
    <dsp:sp modelId="{64E06A54-9724-4200-B6D1-C5FFD0C2B936}">
      <dsp:nvSpPr>
        <dsp:cNvPr id="0" name=""/>
        <dsp:cNvSpPr/>
      </dsp:nvSpPr>
      <dsp:spPr>
        <a:xfrm>
          <a:off x="136028" y="136028"/>
          <a:ext cx="1152000" cy="10882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358DA-D16B-4029-8564-5E4A225B8DDF}">
      <dsp:nvSpPr>
        <dsp:cNvPr id="0" name=""/>
        <dsp:cNvSpPr/>
      </dsp:nvSpPr>
      <dsp:spPr>
        <a:xfrm>
          <a:off x="0" y="1496317"/>
          <a:ext cx="5760000" cy="1360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LiDAR (</a:t>
          </a:r>
          <a:r>
            <a:rPr lang="en-IN" sz="2000" kern="1200" dirty="0" err="1"/>
            <a:t>ToF</a:t>
          </a:r>
          <a:r>
            <a:rPr lang="en-IN" sz="2000" kern="1200" dirty="0"/>
            <a:t> / 3D)</a:t>
          </a:r>
          <a:r>
            <a:rPr lang="en-IN" sz="1800" kern="1200" dirty="0"/>
            <a:t> </a:t>
          </a:r>
          <a:r>
            <a:rPr lang="en-US" sz="1400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[Kim 2017 IEEE URAI]</a:t>
          </a:r>
          <a:endParaRPr lang="en-IN" sz="1800" kern="1200" dirty="0">
            <a:solidFill>
              <a:srgbClr val="FF0000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High </a:t>
          </a:r>
          <a:r>
            <a:rPr lang="en-IN" sz="1800" kern="1200" dirty="0" err="1"/>
            <a:t>SWaP</a:t>
          </a:r>
          <a:r>
            <a:rPr lang="en-IN" sz="1800" kern="1200" dirty="0"/>
            <a:t>-C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Platform-mounted variants add a UAV–platform comms link</a:t>
          </a:r>
          <a:endParaRPr lang="en-IN" sz="1800" kern="1200" dirty="0"/>
        </a:p>
      </dsp:txBody>
      <dsp:txXfrm>
        <a:off x="1288028" y="1496317"/>
        <a:ext cx="4471971" cy="1360289"/>
      </dsp:txXfrm>
    </dsp:sp>
    <dsp:sp modelId="{DFE52A85-76EB-46ED-9316-CFCDA3E99643}">
      <dsp:nvSpPr>
        <dsp:cNvPr id="0" name=""/>
        <dsp:cNvSpPr/>
      </dsp:nvSpPr>
      <dsp:spPr>
        <a:xfrm>
          <a:off x="136028" y="1632346"/>
          <a:ext cx="1152000" cy="10882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7000" r="-7000"/>
          </a:stretch>
        </a:blip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F57115-15CA-44DC-8D57-9ABA42D0A2B7}">
      <dsp:nvSpPr>
        <dsp:cNvPr id="0" name=""/>
        <dsp:cNvSpPr/>
      </dsp:nvSpPr>
      <dsp:spPr>
        <a:xfrm>
          <a:off x="0" y="2992635"/>
          <a:ext cx="5760000" cy="1360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UWB </a:t>
          </a:r>
          <a:r>
            <a:rPr lang="en-US" sz="1400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[Semenov 2025 IEEE SUMMA]</a:t>
          </a:r>
          <a:endParaRPr lang="en-IN" sz="2000" kern="1200" dirty="0">
            <a:solidFill>
              <a:srgbClr val="FF0000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Needs deployed anchor infrastructure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Depends on anchor count/placement and radio-signal stability </a:t>
          </a:r>
          <a:endParaRPr lang="en-IN" sz="1800" kern="1200" dirty="0"/>
        </a:p>
      </dsp:txBody>
      <dsp:txXfrm>
        <a:off x="1288028" y="2992635"/>
        <a:ext cx="4471971" cy="1360289"/>
      </dsp:txXfrm>
    </dsp:sp>
    <dsp:sp modelId="{D7A1C60B-A89C-4D0E-BF50-EF4BC894FA31}">
      <dsp:nvSpPr>
        <dsp:cNvPr id="0" name=""/>
        <dsp:cNvSpPr/>
      </dsp:nvSpPr>
      <dsp:spPr>
        <a:xfrm>
          <a:off x="136028" y="3128664"/>
          <a:ext cx="1152000" cy="108823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l="-8000" r="-8000"/>
          </a:stretch>
        </a:blip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3EEA4-6024-44C0-8BB3-2E4AC2CF9F2A}">
      <dsp:nvSpPr>
        <dsp:cNvPr id="0" name=""/>
        <dsp:cNvSpPr/>
      </dsp:nvSpPr>
      <dsp:spPr>
        <a:xfrm>
          <a:off x="0" y="0"/>
          <a:ext cx="5760000" cy="13797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Stereo Camera</a:t>
          </a:r>
          <a:r>
            <a:rPr lang="en-IN" sz="2100" kern="1200" dirty="0"/>
            <a:t> </a:t>
          </a:r>
          <a:r>
            <a:rPr lang="en-US" sz="1400" kern="1200" dirty="0">
              <a:solidFill>
                <a:srgbClr val="FF0000"/>
              </a:solidFill>
            </a:rPr>
            <a:t>[Benini 2018 Control Theory Tech.]</a:t>
          </a:r>
          <a:endParaRPr lang="en-IN" sz="2100" kern="1200" dirty="0">
            <a:solidFill>
              <a:srgbClr val="FF0000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Added </a:t>
          </a:r>
          <a:r>
            <a:rPr lang="en-IN" sz="1800" kern="1200" dirty="0" err="1"/>
            <a:t>SWaP</a:t>
          </a:r>
          <a:r>
            <a:rPr lang="en-IN" sz="1800" kern="1200" dirty="0"/>
            <a:t>-C and compute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Payload/endurance penalty on small UAVs</a:t>
          </a:r>
          <a:endParaRPr lang="en-IN" sz="1800" kern="1200" dirty="0"/>
        </a:p>
      </dsp:txBody>
      <dsp:txXfrm>
        <a:off x="1289975" y="0"/>
        <a:ext cx="4470024" cy="1379755"/>
      </dsp:txXfrm>
    </dsp:sp>
    <dsp:sp modelId="{E979254F-EFAD-4B63-B263-4F4EFCCC5E47}">
      <dsp:nvSpPr>
        <dsp:cNvPr id="0" name=""/>
        <dsp:cNvSpPr/>
      </dsp:nvSpPr>
      <dsp:spPr>
        <a:xfrm>
          <a:off x="137975" y="137975"/>
          <a:ext cx="1152000" cy="11038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5000" r="-5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12E57-1B2C-4C95-BB5E-E6D8781DB942}">
      <dsp:nvSpPr>
        <dsp:cNvPr id="0" name=""/>
        <dsp:cNvSpPr/>
      </dsp:nvSpPr>
      <dsp:spPr>
        <a:xfrm>
          <a:off x="0" y="1517730"/>
          <a:ext cx="5760000" cy="13797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Monocular Camera</a:t>
          </a:r>
          <a:r>
            <a:rPr lang="en-IN" sz="2100" kern="1200" dirty="0"/>
            <a:t> </a:t>
          </a:r>
          <a:r>
            <a:rPr lang="en-US" sz="1400" kern="1200" dirty="0">
              <a:solidFill>
                <a:srgbClr val="FF0000"/>
              </a:solidFill>
            </a:rPr>
            <a:t>[Nguyen 2026 Springer ICCIES]</a:t>
          </a:r>
          <a:r>
            <a:rPr lang="en-IN" sz="1400" kern="1200" dirty="0">
              <a:solidFill>
                <a:srgbClr val="FF0000"/>
              </a:solidFill>
            </a:rPr>
            <a:t> </a:t>
          </a:r>
          <a:endParaRPr lang="en-IN" sz="2100" kern="1200" dirty="0">
            <a:solidFill>
              <a:srgbClr val="FF0000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Minimal </a:t>
          </a:r>
          <a:r>
            <a:rPr lang="en-IN" sz="1800" kern="1200" dirty="0" err="1"/>
            <a:t>SWaP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Only weakness is scale ambiguity </a:t>
          </a:r>
          <a:endParaRPr lang="en-IN" sz="1800" kern="1200" dirty="0"/>
        </a:p>
      </dsp:txBody>
      <dsp:txXfrm>
        <a:off x="1289975" y="1517730"/>
        <a:ext cx="4470024" cy="1379755"/>
      </dsp:txXfrm>
    </dsp:sp>
    <dsp:sp modelId="{9A02910A-8CE1-4B3E-8DC4-29C7C59E23C9}">
      <dsp:nvSpPr>
        <dsp:cNvPr id="0" name=""/>
        <dsp:cNvSpPr/>
      </dsp:nvSpPr>
      <dsp:spPr>
        <a:xfrm>
          <a:off x="137975" y="1655706"/>
          <a:ext cx="1152000" cy="110380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10000" r="-10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B024D-C2F7-46A8-A626-E2FA23181D5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FE2527-EFF2-4C1D-94DB-A46255E54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90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FE2527-EFF2-4C1D-94DB-A46255E54B5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359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E3067-FBE9-D198-737F-EE24E0DAF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4C401-54AF-4BD5-AC7F-51CA70716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4FBAB-A573-B518-37C1-7AC60AA58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motivation and Key related work</a:t>
            </a:r>
          </a:p>
          <a:p>
            <a:r>
              <a:rPr lang="en-US" dirty="0"/>
              <a:t>Explain optical flow and how it can ensure for soft landing</a:t>
            </a:r>
          </a:p>
          <a:p>
            <a:r>
              <a:rPr lang="en-US" dirty="0"/>
              <a:t>Challenges with optical flow-based landing -&gt; understand my research problem</a:t>
            </a:r>
          </a:p>
          <a:p>
            <a:r>
              <a:rPr lang="en-US" dirty="0"/>
              <a:t>Present controller block </a:t>
            </a:r>
            <a:r>
              <a:rPr lang="en-US" dirty="0" err="1"/>
              <a:t>diag</a:t>
            </a:r>
            <a:r>
              <a:rPr lang="en-US" dirty="0"/>
              <a:t> -&gt; help to understand research novelty</a:t>
            </a:r>
          </a:p>
          <a:p>
            <a:r>
              <a:rPr lang="en-US" dirty="0"/>
              <a:t>Show the experimental setup used to get experimental results</a:t>
            </a:r>
          </a:p>
          <a:p>
            <a:r>
              <a:rPr lang="en-US" dirty="0"/>
              <a:t>Summarize the presentation</a:t>
            </a:r>
          </a:p>
          <a:p>
            <a:r>
              <a:rPr lang="en-US" dirty="0"/>
              <a:t>Before concluding it with insight on future work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F604C-658B-1987-14B9-F62830419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2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Soft Landing on an Unlocalized Target</a:t>
            </a:r>
          </a:p>
          <a:p>
            <a:r>
              <a:rPr lang="en-US" dirty="0"/>
              <a:t>  - Only the descent must be soft — landing location is unconstrained</a:t>
            </a:r>
          </a:p>
          <a:p>
            <a:r>
              <a:rPr lang="en-US" dirty="0"/>
              <a:t>  - e.g., emergency / forced landing on unknown terrain</a:t>
            </a:r>
          </a:p>
          <a:p>
            <a:endParaRPr lang="en-US" dirty="0"/>
          </a:p>
          <a:p>
            <a:r>
              <a:rPr lang="en-US" dirty="0"/>
              <a:t>  Soft-Precise Landing on a Static Target</a:t>
            </a:r>
          </a:p>
          <a:p>
            <a:r>
              <a:rPr lang="en-US" dirty="0"/>
              <a:t>  - Soft touchdown + precise placement on a fixed point</a:t>
            </a:r>
          </a:p>
          <a:p>
            <a:r>
              <a:rPr lang="en-US" dirty="0"/>
              <a:t>  - e.g., static landing pad, recharging port</a:t>
            </a:r>
          </a:p>
          <a:p>
            <a:endParaRPr lang="en-US" dirty="0"/>
          </a:p>
          <a:p>
            <a:r>
              <a:rPr lang="en-US" dirty="0"/>
              <a:t>  Soft-Precise Landing on a Moving Target  ◄ this work</a:t>
            </a:r>
          </a:p>
          <a:p>
            <a:r>
              <a:rPr lang="en-US" dirty="0"/>
              <a:t>  - Soft touchdown + precise placement while matching the platform's motion — the UAV's velocity must converge to the target's at contact</a:t>
            </a:r>
          </a:p>
          <a:p>
            <a:r>
              <a:rPr lang="en-US" dirty="0"/>
              <a:t>  - e.g., ground vehicle, ship deck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FE2527-EFF2-4C1D-94DB-A46255E54B5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147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Terminal landing has two failure modes, each motivating one requirement:</a:t>
            </a:r>
          </a:p>
          <a:p>
            <a:pPr lvl="1"/>
            <a:r>
              <a:rPr lang="en-US" dirty="0"/>
              <a:t>Imprecise landing — misses the platform or grazes its edge  →  </a:t>
            </a:r>
            <a:r>
              <a:rPr lang="en-US" i="1" dirty="0"/>
              <a:t>needs precise positioning</a:t>
            </a:r>
          </a:p>
          <a:p>
            <a:pPr lvl="1"/>
            <a:r>
              <a:rPr lang="en-US" dirty="0"/>
              <a:t>Hard landing — airframe / payload damage on contact  →  </a:t>
            </a:r>
            <a:r>
              <a:rPr lang="en-US" i="1" dirty="0"/>
              <a:t>needs a soft touchdown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⇒ </a:t>
            </a:r>
            <a:r>
              <a:rPr lang="en-US" b="1" dirty="0"/>
              <a:t>Goal: </a:t>
            </a:r>
            <a:r>
              <a:rPr lang="en-US" dirty="0"/>
              <a:t>a guaranteed soft-precise landing, captured by two functional requirements: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smooth lateral approach to the target before touchdown — </a:t>
            </a:r>
            <a:r>
              <a:rPr lang="en-US" i="1" dirty="0"/>
              <a:t>precision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altitude and velocity converge to the target's at touchdown — </a:t>
            </a:r>
            <a:r>
              <a:rPr lang="en-US" i="1" dirty="0"/>
              <a:t>softness</a:t>
            </a:r>
            <a:endParaRPr lang="en-IN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FE2527-EFF2-4C1D-94DB-A46255E54B5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962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Soft-precise landing needs accurate relative UAV–target position and velocity during terminal descent, in GPS-denied or unprepared sites.</a:t>
            </a:r>
          </a:p>
          <a:p>
            <a:endParaRPr lang="en-US" sz="1800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Non-vision sensors — each carries a disqualifier:</a:t>
            </a:r>
          </a:p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- GNSS RTK / INS — denied indoors, urban-canyon, and obstructed sites [Marcon 2018 IEEE PIERS]</a:t>
            </a:r>
          </a:p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- UWB — needs deployed anchor infrastructure; depends on anchor count/placement and radio-signal stability [Semenov 2025 IEEE SUMMA]</a:t>
            </a:r>
          </a:p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- LiDAR (</a:t>
            </a:r>
            <a:r>
              <a:rPr lang="en-US" sz="18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ToF</a:t>
            </a:r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/ 3D) — high </a:t>
            </a:r>
            <a:r>
              <a:rPr lang="en-US" sz="18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-C; platform-mounted variants add a UAV–platform comms link [Kim 2017 IEEE URAI]</a:t>
            </a:r>
          </a:p>
          <a:p>
            <a:endParaRPr lang="en-US" sz="1800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Vision — the natural minimal-</a:t>
            </a:r>
            <a:r>
              <a:rPr lang="en-US" sz="18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modality [Gautam 2014 IEEE ICUAS]</a:t>
            </a:r>
          </a:p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Vision detects the changes caused by applied forces, not the actual forces.</a:t>
            </a:r>
          </a:p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- Stereo camera — added </a:t>
            </a:r>
            <a:r>
              <a:rPr lang="en-US" sz="18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-C and compute; payload/endurance penalty on small UAVs [Benini 2018 Control Theory Tech.]</a:t>
            </a:r>
          </a:p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- Monocular camera ✓ — minimal </a:t>
            </a:r>
            <a:r>
              <a:rPr lang="en-US" sz="18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; only weakness is scale ambiguity [Bouazza 2025 </a:t>
            </a:r>
            <a:r>
              <a:rPr lang="en-US" sz="18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arXiv</a:t>
            </a:r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, Nguyen 2026 Springer ICCIES]</a:t>
            </a:r>
          </a:p>
          <a:p>
            <a:endParaRPr lang="en-US" sz="1800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➡ Scale ambiguity is resolved in control, not hardware → scale-free VDF-ASMC.</a:t>
            </a:r>
            <a:endParaRPr lang="en-IN" sz="1800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FE2527-EFF2-4C1D-94DB-A46255E54B5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910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9BD94-960E-AEFB-9F7F-22161C99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83968-28CC-FE28-D489-A7BD1F123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8DBFC10-5A38-3FE3-3763-1EE73D5425C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Pose-estimation using IMU + GPS for outdoors or IMU + distance sensors for indoors.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Needs accurate pose estimation for stability. GPS + IMU or distance sensors may not give reliable information near ground.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Vision provides more accurate pose-estimates. Vision-based landing needs image sensor. Image sensors more reliable for pose-estimation.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PBVS -&gt; Pose-estimation using image features.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But -&gt; Involves real-time processing of massive information -&gt; High compute cost + Adding delay -&gt; impacting performance and stability of autonomous landing.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+ Needs accurate image scale information -&gt; sensitive to camera calibration and image noise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IBVS - &gt; Does not need to transform image information to inertial frame -&gt; metric information 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No image scale information -&gt; Robust to camera calibration + image noise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Optical Flow </a:t>
                </a:r>
                <a:endPara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Possesses inherent characteristics for soft landing. </a:t>
                </a:r>
                <a:r>
                  <a:rPr lang="en-US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(Will show how in the next few slides.)</a:t>
                </a:r>
                <a:endParaRPr lang="en-I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No feature detection </a:t>
                </a:r>
                <a14:m>
                  <m:oMath xmlns:m="http://schemas.openxmlformats.org/officeDocument/2006/math">
                    <m:r>
                      <a:rPr lang="en-US" sz="9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 image segmentation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Low computational cost.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b="1" dirty="0"/>
                  <a:t>Please note that due to the space constraint, I have just provided reference to the key related work only. 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Pose-estimation using IMU + GPS for outdoors or IMU + distance sensors for indoors.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Needs accurate pose estimation for stability. GPS + IMU or distance sensors may not give reliable information near ground.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Vision provides more accurate pose-estimates. Vision-based landing needs image sensor. Image sensors more reliable for pose-estimation.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PBVS -&gt; Pose-estimation using image features.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But -&gt; Involves real-time processing of massive information -&gt; High compute cost + Adding delay -&gt; impacting performance and stability of autonomous landing.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+ Needs accurate image scale information -&gt; sensitive to camera calibration and image noise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IBVS - &gt; Does not need to transform image information to inertial frame -&gt; metric information 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No image scale information -&gt; Robust to camera calibration + image noise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/>
                  <a:t>Optical Flow </a:t>
                </a:r>
                <a:endPara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Possesses inherent characteristics for soft landing. </a:t>
                </a:r>
                <a:r>
                  <a:rPr lang="en-US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(Will show how in the next few slides.)</a:t>
                </a:r>
                <a:endParaRPr lang="en-I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No feature detection </a:t>
                </a:r>
                <a:r>
                  <a:rPr lang="en-US" sz="900" b="0" i="0" u="none" strike="noStrike" baseline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 image segmentation </a:t>
                </a:r>
                <a:r>
                  <a:rPr lang="en-US" sz="9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Low computational cost.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b="1" dirty="0"/>
                  <a:t>Please note that due to the space constraint, I have just provided reference to the key related work only. 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138A9-C04B-8E37-E5A2-93DDB5866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12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89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a control framework which will ensure the following: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Faster convergence of relative lateral UAV-target position than the convergence of relative altitude.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Simultaneous convergence of relative lateral UAV-target velocity and relative altitude. </a:t>
            </a:r>
            <a:endParaRPr lang="en-IN" dirty="0"/>
          </a:p>
          <a:p>
            <a:r>
              <a:rPr lang="en-US" dirty="0"/>
              <a:t>In our control formulation, we use high proportional gain to ensure convergence of s and hence, faster convergence of r </a:t>
            </a:r>
            <a:r>
              <a:rPr lang="en-US" dirty="0" err="1"/>
              <a:t>wrt</a:t>
            </a:r>
            <a:r>
              <a:rPr lang="en-US" dirty="0"/>
              <a:t> to z. Additionally, we have lateral acceleration clamp which is triggered by exponentially decaying target image funnel, which guarantees target visibility.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FE2527-EFF2-4C1D-94DB-A46255E54B5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379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32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79CF6-D594-7EBA-2584-E385C503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EDEB1-02E3-4B11-5E8F-D2F354A2F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519CFE3-87AB-8721-FD87-D6CB86B3A65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IN" sz="1600" i="1" dirty="0">
                    <a:solidFill>
                      <a:schemeClr val="tx1"/>
                    </a:solidFill>
                  </a:rPr>
                  <a:t>Equivalent control</a:t>
                </a:r>
                <a:r>
                  <a:rPr lang="en-IN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 lvl="2"/>
                <a:r>
                  <a:rPr lang="en-IN" sz="1600" dirty="0">
                    <a:solidFill>
                      <a:schemeClr val="tx1"/>
                    </a:solidFill>
                  </a:rPr>
                  <a:t>Main control action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</a:rPr>
                  <a:t> Drive flow error to sliding surface.</a:t>
                </a:r>
              </a:p>
              <a:p>
                <a:pPr lvl="2"/>
                <a:r>
                  <a:rPr lang="en-IN" sz="1600" dirty="0">
                    <a:solidFill>
                      <a:schemeClr val="tx1"/>
                    </a:solidFill>
                  </a:rPr>
                  <a:t>F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orces</a:t>
                </a:r>
                <a:r>
                  <a:rPr lang="en-US" sz="1600" dirty="0">
                    <a:solidFill>
                      <a:schemeClr val="tx1"/>
                    </a:solidFill>
                  </a:rPr>
                  <a:t> error to evolve on sliding surface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σ</m:t>
                    </m:r>
                    <m:d>
                      <m:dPr>
                        <m:ctrlPr>
                          <a:rPr lang="en-IN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16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  <a:endParaRPr lang="en-IN" sz="16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IN" sz="1600" i="1" dirty="0">
                    <a:solidFill>
                      <a:schemeClr val="tx1"/>
                    </a:solidFill>
                  </a:rPr>
                  <a:t>Switching control</a:t>
                </a:r>
                <a:r>
                  <a:rPr lang="en-IN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 lvl="2"/>
                <a:r>
                  <a:rPr lang="en-US" sz="1600" b="0" i="0" u="none" strike="noStrike" baseline="0" dirty="0">
                    <a:solidFill>
                      <a:schemeClr val="tx1"/>
                    </a:solidFill>
                  </a:rPr>
                  <a:t>Ensures discontinuity of control </a:t>
                </a:r>
                <a:r>
                  <a:rPr lang="en-IN" sz="1600" b="0" i="0" u="none" strike="noStrike" baseline="0" dirty="0">
                    <a:solidFill>
                      <a:schemeClr val="tx1"/>
                    </a:solidFill>
                  </a:rPr>
                  <a:t>law across sliding surface.</a:t>
                </a:r>
              </a:p>
              <a:p>
                <a:pPr lvl="2"/>
                <a:r>
                  <a:rPr lang="en-US" sz="1600" b="0" i="0" u="none" strike="noStrike" baseline="0" dirty="0">
                    <a:solidFill>
                      <a:schemeClr val="tx1"/>
                    </a:solidFill>
                  </a:rPr>
                  <a:t>Supplies additional control to adapt to system uncertainty, without any knowledge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IN" sz="16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accPr>
                      <m:e>
                        <m: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∆</m:t>
                        </m:r>
                      </m:e>
                    </m:acc>
                  </m:oMath>
                </a14:m>
                <a:r>
                  <a:rPr lang="en-US" sz="1600" b="0" i="0" u="none" strike="noStrike" baseline="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r>
                  <a:rPr lang="en-IN" sz="1600" b="0" i="1" u="none" strike="noStrike" baseline="0" dirty="0">
                    <a:solidFill>
                      <a:schemeClr val="tx1"/>
                    </a:solidFill>
                  </a:rPr>
                  <a:t>Feedback linearization</a:t>
                </a:r>
                <a:r>
                  <a:rPr lang="en-IN" sz="1600" b="0" i="0" u="none" strike="noStrike" baseline="0" dirty="0">
                    <a:solidFill>
                      <a:schemeClr val="tx1"/>
                    </a:solidFill>
                  </a:rPr>
                  <a:t>: </a:t>
                </a:r>
              </a:p>
              <a:p>
                <a:pPr lvl="2"/>
                <a:r>
                  <a:rPr lang="en-IN" sz="1600" dirty="0">
                    <a:solidFill>
                      <a:schemeClr val="tx1"/>
                    </a:solidFill>
                  </a:rPr>
                  <a:t>Compensate for non-linearity and actuator saturation.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IN" sz="1600" i="1" dirty="0">
                    <a:solidFill>
                      <a:schemeClr val="tx1"/>
                    </a:solidFill>
                  </a:rPr>
                  <a:t>Equivalent control</a:t>
                </a:r>
                <a:r>
                  <a:rPr lang="en-IN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 lvl="2"/>
                <a:r>
                  <a:rPr lang="en-IN" sz="1600" dirty="0">
                    <a:solidFill>
                      <a:schemeClr val="tx1"/>
                    </a:solidFill>
                  </a:rPr>
                  <a:t>Main control action </a:t>
                </a:r>
                <a:r>
                  <a:rPr lang="en-IN" sz="1600" i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⟹</a:t>
                </a:r>
                <a:r>
                  <a:rPr lang="en-IN" sz="1600" dirty="0">
                    <a:solidFill>
                      <a:schemeClr val="tx1"/>
                    </a:solidFill>
                  </a:rPr>
                  <a:t> Drive flow error to sliding surface.</a:t>
                </a:r>
              </a:p>
              <a:p>
                <a:pPr lvl="2"/>
                <a:r>
                  <a:rPr lang="en-IN" sz="1600" dirty="0">
                    <a:solidFill>
                      <a:schemeClr val="tx1"/>
                    </a:solidFill>
                  </a:rPr>
                  <a:t>F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orces</a:t>
                </a:r>
                <a:r>
                  <a:rPr lang="en-US" sz="1600" dirty="0">
                    <a:solidFill>
                      <a:schemeClr val="tx1"/>
                    </a:solidFill>
                  </a:rPr>
                  <a:t> error to evolve on sliding surface while </a:t>
                </a:r>
                <a:r>
                  <a:rPr lang="en-IN" sz="1600" i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</a:rPr>
                  <a:t>σ(𝑡)</a:t>
                </a:r>
                <a:r>
                  <a:rPr lang="en-IN" sz="1600" i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</a:t>
                </a:r>
                <a:r>
                  <a:rPr lang="en-IN" sz="1600" b="0" i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  <a:endParaRPr lang="en-IN" sz="16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IN" sz="1600" i="1" dirty="0">
                    <a:solidFill>
                      <a:schemeClr val="tx1"/>
                    </a:solidFill>
                  </a:rPr>
                  <a:t>Switching control</a:t>
                </a:r>
                <a:r>
                  <a:rPr lang="en-IN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 lvl="2"/>
                <a:r>
                  <a:rPr lang="en-US" sz="1600" b="0" i="0" u="none" strike="noStrike" baseline="0" dirty="0">
                    <a:solidFill>
                      <a:schemeClr val="tx1"/>
                    </a:solidFill>
                  </a:rPr>
                  <a:t>Ensures discontinuity of control </a:t>
                </a:r>
                <a:r>
                  <a:rPr lang="en-IN" sz="1600" b="0" i="0" u="none" strike="noStrike" baseline="0" dirty="0">
                    <a:solidFill>
                      <a:schemeClr val="tx1"/>
                    </a:solidFill>
                  </a:rPr>
                  <a:t>law across sliding surface.</a:t>
                </a:r>
              </a:p>
              <a:p>
                <a:pPr lvl="2"/>
                <a:r>
                  <a:rPr lang="en-US" sz="1600" b="0" i="0" u="none" strike="noStrike" baseline="0" dirty="0">
                    <a:solidFill>
                      <a:schemeClr val="tx1"/>
                    </a:solidFill>
                  </a:rPr>
                  <a:t>Supplies additional control to adapt to system uncertainty, without any knowledge of </a:t>
                </a:r>
                <a:r>
                  <a:rPr lang="en-IN" sz="1600" b="0" i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 ̅</a:t>
                </a:r>
                <a:r>
                  <a:rPr lang="en-IN" sz="1600" dirty="0">
                    <a:ea typeface="Cambria Math" panose="02040503050406030204" pitchFamily="18" charset="0"/>
                  </a:rPr>
                  <a:t>, </a:t>
                </a:r>
                <a:r>
                  <a:rPr lang="en-IN" sz="1600" i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∆ ̅</a:t>
                </a:r>
                <a:r>
                  <a:rPr lang="en-US" sz="1600" b="0" i="0" u="none" strike="noStrike" baseline="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r>
                  <a:rPr lang="en-IN" sz="1600" b="0" i="1" u="none" strike="noStrike" baseline="0" dirty="0">
                    <a:solidFill>
                      <a:schemeClr val="tx1"/>
                    </a:solidFill>
                  </a:rPr>
                  <a:t>Feedback linearization</a:t>
                </a:r>
                <a:r>
                  <a:rPr lang="en-IN" sz="1600" b="0" i="0" u="none" strike="noStrike" baseline="0" dirty="0">
                    <a:solidFill>
                      <a:schemeClr val="tx1"/>
                    </a:solidFill>
                  </a:rPr>
                  <a:t>: </a:t>
                </a:r>
              </a:p>
              <a:p>
                <a:pPr lvl="2"/>
                <a:r>
                  <a:rPr lang="en-IN" sz="1600" dirty="0">
                    <a:solidFill>
                      <a:schemeClr val="tx1"/>
                    </a:solidFill>
                  </a:rPr>
                  <a:t>Compensate for non-linearity and saturation.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AE985-009C-DCBF-88FF-2430F269F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9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68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7CA1-25DB-26FE-F25E-090EA152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8E6B-8093-5D07-5E67-2DD375C7E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72DDC-1E33-E0C8-7873-A63763861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E2650-73C2-624C-EC28-30FA4ADAD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80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eXGyreTermesX-Regular"/>
              </a:rPr>
              <a:t>Let me summarize the presentation for you all.</a:t>
            </a:r>
          </a:p>
          <a:p>
            <a:pPr algn="l"/>
            <a:endParaRPr lang="en-US" sz="1800" b="0" i="0" u="none" strike="noStrike" baseline="0" dirty="0">
              <a:latin typeface="TeXGyreTermesX-Regular"/>
            </a:endParaRPr>
          </a:p>
          <a:p>
            <a:pPr algn="l"/>
            <a:r>
              <a:rPr lang="en-US" sz="1800" b="0" i="0" u="none" strike="noStrike" baseline="0" dirty="0">
                <a:latin typeface="TeXGyreTermesX-Regular"/>
              </a:rPr>
              <a:t>First we proposed a robust adaptive control strategy to execute a constant flow divergence landing maneuver while driving the vertical velocity of the quadrotor to zero.</a:t>
            </a:r>
          </a:p>
          <a:p>
            <a:pPr algn="l"/>
            <a:endParaRPr lang="en-US" sz="1800" b="0" i="0" u="none" strike="noStrike" baseline="0" dirty="0">
              <a:latin typeface="TeXGyreTermesX-Regular"/>
            </a:endParaRPr>
          </a:p>
          <a:p>
            <a:pPr algn="l"/>
            <a:r>
              <a:rPr lang="en-US" sz="1800" b="0" i="0" u="none" strike="noStrike" baseline="0" dirty="0">
                <a:latin typeface="TeXGyreTermesX-Regular"/>
              </a:rPr>
              <a:t>The novelty of our work lies in the implementation of adaptive first-order sliding mode control (AFOSMC) strategy that drives the output error to zero through online estimation and rejection of the model uncertainties and exogenous perturbations.</a:t>
            </a:r>
          </a:p>
          <a:p>
            <a:pPr algn="l"/>
            <a:endParaRPr lang="en-US" sz="1800" b="0" i="0" u="none" strike="noStrike" baseline="0" dirty="0">
              <a:latin typeface="TeXGyreTermesX-Regular"/>
            </a:endParaRPr>
          </a:p>
          <a:p>
            <a:pPr algn="l"/>
            <a:r>
              <a:rPr lang="en-US" sz="1800" b="0" i="0" u="none" strike="noStrike" baseline="0" dirty="0">
                <a:latin typeface="TeXGyreTermesX-Regular"/>
              </a:rPr>
              <a:t>Numerical simulation and flight tests results exhibit the effectiveness of the proposed control approach and its robustness against uncertainties and perturbations. </a:t>
            </a:r>
          </a:p>
          <a:p>
            <a:pPr algn="l"/>
            <a:endParaRPr lang="en-US" sz="1800" b="0" i="0" u="none" strike="noStrike" baseline="0" dirty="0">
              <a:latin typeface="TeXGyreTermesX-Regular"/>
            </a:endParaRPr>
          </a:p>
          <a:p>
            <a:pPr algn="l"/>
            <a:r>
              <a:rPr lang="en-US" sz="1800" b="0" i="0" u="none" strike="noStrike" baseline="0" dirty="0">
                <a:latin typeface="TeXGyreTermesX-Regular"/>
              </a:rPr>
              <a:t>Finally, a performance comparison analysis is performed with a fixed-gain PI controller to demonstrate the superiority of the proposed controller.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81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0CFA-29D1-5169-B194-0C89B0685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FADEF-94CB-EFAF-ACC3-8337FD8A2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2894-FD4B-C7D3-2DC7-0F922CFA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60B4F-A7C1-0F00-2552-A310C874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3B66C-FEB7-5981-AD59-E96D51AD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88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2959B-ED0A-E8C4-DE89-31B8D10F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7F778-7A9F-4E9F-05DB-23FCE36AF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0A11C-0BC9-FBF3-BEC8-C50DC5F4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C260C-B54E-8A16-C313-98570ABF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054AD-3DAB-0BFD-FAFA-68F42031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80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E356-8D2F-96E3-7AD2-99996021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B0EFD-7F3E-487A-E77C-C0A8408C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582A4-1EE2-E009-9C87-596D9383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0FD8B-0EE4-7515-23BD-6BC4DB6D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5BF79-3347-3380-F801-FBBFF411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0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5398-0DA3-E992-950E-5D1B90DE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57F17-CF41-A1D5-D496-7FCA8A1C1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4DB95-A094-0719-F6F8-F2A60E01D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A3A31-42A7-D352-B234-963CD29F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F098F-C470-FE7B-4DB3-48A2E5DD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D3F48-1A7E-74AB-043F-FE6498A8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778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C0082-1D1A-4281-A813-6D8914E74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C4A30-7D9F-09AB-B6B5-233D004FD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4BD59-47C6-2D73-B39C-D3C0BA38C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0254D-6B97-838C-C58D-E18B5896D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877F-CA9C-FE73-33A0-7D0A1B9A5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672D6-5DC9-6172-AA36-D2FF5C0B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1B3604-48D6-DD49-16B6-15B80AD7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D3E3D-B5F2-C04E-CD98-E7A6FDCC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78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9160-5FF6-38D4-A7A5-DA146715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816CE9-9B2E-FC86-32C5-BF1F628A5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06E58-EFFF-DA5D-BA1C-47BA3548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CACC7-27C7-B085-76D2-7BD09ED83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91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DB4AF6-30C2-0D3B-BEAF-C7970937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7CBBC-56F1-E5B7-118B-C7F4A2A3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8E0DD-E01F-3AD9-D620-16E28913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51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DD23-AF7A-7865-917F-4FDE22DD0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6A51B-9D14-BA5F-938C-99C0EE20F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9BE80-093D-452C-EDAD-E47CB25FB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CDC39-CA58-D561-517A-E947A6CA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2DB13-54B3-99F1-3A94-BD903BBA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197D0-8DFF-E80B-C303-C5A21D0F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4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28A8-9C64-3373-FC88-F94EA91E1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19363-CC8E-BA57-AF71-6F39F3C91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DC32C-05DD-4774-AB5E-3715E861A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223D8-388D-0B46-8FA4-CDF682B1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95FB0-42B9-9352-4BC3-5AB024A8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BFB81-D763-BF75-D02A-173B7400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59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BBC6F-FF95-8EA7-0BA2-A6976CFF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E02FF-9017-4173-2559-E0470B4ED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7C9B7-7B4C-6680-7226-8C702C738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35EFE-C9CB-D29D-5B8F-924EC1DB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BBCA4-70A9-4088-FAFE-62176366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695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7DD85-2119-C287-88F9-48FB83B8E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669FD-6594-390B-954C-7BCF856DD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F8484-4DD2-E2DA-09A3-A0664521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E95F1-8A2D-C0FB-8287-ED42CD31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87BD8-01E3-0592-F669-17AFB625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38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4ADA2F-71D9-CE25-25B9-D2FD8506B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50632-BCAB-757F-4B47-3E26061EF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46E35-578E-FBE2-E033-129B53994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F3C44-4A48-4508-96B9-70A23E3922A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776DF-E2CE-E92F-7EA5-394B6D384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98B4A-1862-EA78-8B49-63AF8C9A6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BC260-08B8-4327-8619-5E26A1F24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6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video" Target="../media/media1.mp4"/><Relationship Id="rId7" Type="http://schemas.openxmlformats.org/officeDocument/2006/relationships/image" Target="../media/image28.png"/><Relationship Id="rId2" Type="http://schemas.microsoft.com/office/2007/relationships/media" Target="../media/media1.mp4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2.xml"/><Relationship Id="rId5" Type="http://schemas.openxmlformats.org/officeDocument/2006/relationships/video" Target="../media/media2.mp4"/><Relationship Id="rId4" Type="http://schemas.microsoft.com/office/2007/relationships/media" Target="../media/media2.mp4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F206-5866-BE45-5941-CD9C55A8D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4000" dirty="0"/>
              <a:t>Scale-Free Adaptive Sliding-Mode Control for Guaranteed Soft-Precise Landing under Target Visibility Constraints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D6A21-456F-55F5-37AB-E8236E830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1638"/>
            <a:ext cx="9144000" cy="234156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Presenter:</a:t>
            </a:r>
          </a:p>
          <a:p>
            <a:r>
              <a:rPr lang="en-IN" dirty="0"/>
              <a:t>Shubham Singhal</a:t>
            </a:r>
          </a:p>
          <a:p>
            <a:endParaRPr lang="en-IN" dirty="0"/>
          </a:p>
          <a:p>
            <a:r>
              <a:rPr lang="en-IN" b="1" dirty="0"/>
              <a:t>Research Supervisors:</a:t>
            </a:r>
          </a:p>
          <a:p>
            <a:r>
              <a:rPr lang="en-IN" dirty="0"/>
              <a:t>Dr. Jishnu Keshavan</a:t>
            </a:r>
          </a:p>
          <a:p>
            <a:r>
              <a:rPr lang="en-IN" dirty="0"/>
              <a:t>Dr. Suresh Sundaram</a:t>
            </a:r>
          </a:p>
        </p:txBody>
      </p:sp>
    </p:spTree>
    <p:extLst>
      <p:ext uri="{BB962C8B-B14F-4D97-AF65-F5344CB8AC3E}">
        <p14:creationId xmlns:p14="http://schemas.microsoft.com/office/powerpoint/2010/main" val="159713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769D-7938-6E42-0062-9FBBF7F9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41DE5-0725-C44C-1831-E32E65C76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498600"/>
            <a:ext cx="5480859" cy="4495800"/>
          </a:xfrm>
        </p:spPr>
        <p:txBody>
          <a:bodyPr anchor="ctr"/>
          <a:lstStyle/>
          <a:p>
            <a:pPr marL="609585" indent="-609585">
              <a:lnSpc>
                <a:spcPct val="150000"/>
              </a:lnSpc>
              <a:buFont typeface="+mj-lt"/>
              <a:buAutoNum type="arabicPeriod"/>
            </a:pPr>
            <a:r>
              <a:rPr lang="en-US" sz="3200" dirty="0"/>
              <a:t>Motivation</a:t>
            </a:r>
          </a:p>
          <a:p>
            <a:pPr marL="609585" indent="-609585">
              <a:lnSpc>
                <a:spcPct val="150000"/>
              </a:lnSpc>
              <a:buFont typeface="+mj-lt"/>
              <a:buAutoNum type="arabicPeriod"/>
            </a:pPr>
            <a:r>
              <a:rPr lang="en-IN" sz="3200" dirty="0"/>
              <a:t>System Output Dynamics</a:t>
            </a:r>
          </a:p>
          <a:p>
            <a:pPr marL="609585" indent="-609585">
              <a:lnSpc>
                <a:spcPct val="150000"/>
              </a:lnSpc>
              <a:buFont typeface="+mj-lt"/>
              <a:buAutoNum type="arabicPeriod"/>
            </a:pPr>
            <a:r>
              <a:rPr lang="en-IN" sz="3200" dirty="0"/>
              <a:t>Problem Statement</a:t>
            </a:r>
          </a:p>
          <a:p>
            <a:pPr marL="609585" indent="-609585">
              <a:lnSpc>
                <a:spcPct val="150000"/>
              </a:lnSpc>
              <a:buFont typeface="+mj-lt"/>
              <a:buAutoNum type="arabicPeriod"/>
            </a:pPr>
            <a:r>
              <a:rPr lang="en-IN" sz="3200" dirty="0"/>
              <a:t>Controller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F4A004-B4C0-F240-4DF1-3D677AC021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609585" indent="-609585">
              <a:lnSpc>
                <a:spcPct val="150000"/>
              </a:lnSpc>
              <a:buFont typeface="+mj-lt"/>
              <a:buAutoNum type="arabicPeriod" startAt="5"/>
            </a:pPr>
            <a:r>
              <a:rPr lang="en-IN" sz="3200" dirty="0"/>
              <a:t>Research Novelty</a:t>
            </a:r>
          </a:p>
          <a:p>
            <a:pPr marL="609585" indent="-609585">
              <a:lnSpc>
                <a:spcPct val="150000"/>
              </a:lnSpc>
              <a:buFont typeface="+mj-lt"/>
              <a:buAutoNum type="arabicPeriod" startAt="5"/>
            </a:pPr>
            <a:r>
              <a:rPr lang="en-US" sz="3200" dirty="0"/>
              <a:t>Simulation Results</a:t>
            </a:r>
          </a:p>
          <a:p>
            <a:pPr marL="609585" indent="-609585">
              <a:lnSpc>
                <a:spcPct val="150000"/>
              </a:lnSpc>
              <a:buFont typeface="+mj-lt"/>
              <a:buAutoNum type="arabicPeriod" startAt="5"/>
            </a:pPr>
            <a:r>
              <a:rPr lang="en-IN" sz="3200" dirty="0"/>
              <a:t>Key Objectives for Method Demonstration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36FC5-4DB5-B35E-AA2F-D476B6FE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AAD67-2FAE-C2BF-CF9B-50D3D9D4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1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13"/>
    </mc:Choice>
    <mc:Fallback xmlns="">
      <p:transition spd="slow" advTm="421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1087-EB38-39E7-6ECA-8FAEA6A9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Spectrum of Autonomous Landing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F7958A84-1D4D-728B-935A-D9F11F377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8066" y="1346199"/>
            <a:ext cx="10955867" cy="54779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32C455D-F9C2-5D2C-4A8B-F7EBB39A6DAC}"/>
              </a:ext>
            </a:extLst>
          </p:cNvPr>
          <p:cNvSpPr txBox="1"/>
          <p:nvPr/>
        </p:nvSpPr>
        <p:spPr>
          <a:xfrm>
            <a:off x="7315279" y="175296"/>
            <a:ext cx="5503177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*Image credits: OpenAI ChatGPT.</a:t>
            </a:r>
            <a:endParaRPr lang="en-I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25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E48B-54B5-7F94-D1E4-3AFE7BE9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Soft-Precise Landing?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632EA9-5547-4826-18B8-9742C2122B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356" r="199" b="5538"/>
          <a:stretch>
            <a:fillRect/>
          </a:stretch>
        </p:blipFill>
        <p:spPr>
          <a:xfrm>
            <a:off x="1343158" y="1280160"/>
            <a:ext cx="9505684" cy="47763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1846A4-8061-171B-5761-BA854ED0B80B}"/>
              </a:ext>
            </a:extLst>
          </p:cNvPr>
          <p:cNvSpPr txBox="1"/>
          <p:nvPr/>
        </p:nvSpPr>
        <p:spPr>
          <a:xfrm>
            <a:off x="7315279" y="175296"/>
            <a:ext cx="5503177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*Image credits: OpenAI ChatGPT.</a:t>
            </a:r>
            <a:endParaRPr lang="en-I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428AF-CD91-1E5B-2127-885C416BE734}"/>
              </a:ext>
            </a:extLst>
          </p:cNvPr>
          <p:cNvSpPr txBox="1"/>
          <p:nvPr/>
        </p:nvSpPr>
        <p:spPr>
          <a:xfrm>
            <a:off x="1143080" y="6159386"/>
            <a:ext cx="3107188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Lateral approach before touchdown (precision)</a:t>
            </a:r>
            <a:endParaRPr lang="en-I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0FAE7-7E1B-BED2-2968-D37B2FB848AE}"/>
              </a:ext>
            </a:extLst>
          </p:cNvPr>
          <p:cNvSpPr txBox="1"/>
          <p:nvPr/>
        </p:nvSpPr>
        <p:spPr>
          <a:xfrm>
            <a:off x="4396336" y="6159385"/>
            <a:ext cx="3399328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Relative altitude &amp; velocity converge at touchdown (softness)</a:t>
            </a:r>
            <a:endParaRPr lang="en-I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E7CB3-5394-020B-D29A-8E5ECFED6ACF}"/>
              </a:ext>
            </a:extLst>
          </p:cNvPr>
          <p:cNvSpPr txBox="1"/>
          <p:nvPr/>
        </p:nvSpPr>
        <p:spPr>
          <a:xfrm>
            <a:off x="8447677" y="6151387"/>
            <a:ext cx="2431989" cy="687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Req. (a) + Req. (b) </a:t>
            </a:r>
          </a:p>
          <a:p>
            <a:pPr algn="ctr"/>
            <a:r>
              <a:rPr lang="en-US" sz="2000" dirty="0"/>
              <a:t>⇒ 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soft-precise landing</a:t>
            </a:r>
            <a:endParaRPr lang="en-I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57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1994-B0E9-9823-0D2F-47751751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Sensing for Soft-Precise Landing — Why Monocular Vision?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13F6F0-BF07-B498-C67A-B04BE3A4A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n-IN" dirty="0"/>
              <a:t>Non-Vision Sensor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9BE3B658-A62A-F881-F0CF-08EA86FAFE8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44054310"/>
              </p:ext>
            </p:extLst>
          </p:nvPr>
        </p:nvGraphicFramePr>
        <p:xfrm>
          <a:off x="241269" y="2363759"/>
          <a:ext cx="5760000" cy="435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FF7980B-B834-D089-D30F-95397605C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n-IN" dirty="0"/>
              <a:t>Vision Sensor</a:t>
            </a:r>
          </a:p>
        </p:txBody>
      </p:sp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C6632A11-F30E-CD26-FB55-B2EA00169D4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14354898"/>
              </p:ext>
            </p:extLst>
          </p:nvPr>
        </p:nvGraphicFramePr>
        <p:xfrm>
          <a:off x="6172200" y="3037094"/>
          <a:ext cx="5760000" cy="2898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973A1BD-3EB8-B4C3-F671-55265D67963F}"/>
              </a:ext>
            </a:extLst>
          </p:cNvPr>
          <p:cNvSpPr txBox="1"/>
          <p:nvPr/>
        </p:nvSpPr>
        <p:spPr>
          <a:xfrm>
            <a:off x="6190732" y="2363759"/>
            <a:ext cx="57414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natural minimal-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modality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[Gautam 2014 IEEE ICUAS]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8A40D7-C14D-2703-7D86-94788C55947E}"/>
              </a:ext>
            </a:extLst>
          </p:cNvPr>
          <p:cNvSpPr txBox="1"/>
          <p:nvPr/>
        </p:nvSpPr>
        <p:spPr>
          <a:xfrm>
            <a:off x="6206206" y="6064115"/>
            <a:ext cx="5725993" cy="7078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ambiguity is resolved in control, not hardware → scale-free VDF-ASMC.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34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E553-FC3D-198B-0A3A-3C45CA8F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Landscape of Autonomous Landing Approaches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2C11D4-C492-39DB-2D7A-4EC8B1E3E7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571907"/>
              </p:ext>
            </p:extLst>
          </p:nvPr>
        </p:nvGraphicFramePr>
        <p:xfrm>
          <a:off x="146050" y="2257887"/>
          <a:ext cx="11931650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3728356969"/>
                    </a:ext>
                  </a:extLst>
                </a:gridCol>
                <a:gridCol w="3054350">
                  <a:extLst>
                    <a:ext uri="{9D8B030D-6E8A-4147-A177-3AD203B41FA5}">
                      <a16:colId xmlns:a16="http://schemas.microsoft.com/office/drawing/2014/main" val="2949461443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400269605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887203378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57760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Landing Approach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Core Mechanism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requirement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Representative works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0217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Aerodynamic ground-effect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Thrust shaping near ground via induced-wind modeling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Static (ground / structure)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Aerodynamic model + IMU; no vision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[Nekoo 2021 IEEE ICUAS]; [Nekoo 2021 IEEE AIRPHARO]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55554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Guidance / trajectory optimization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Terminal position-velocity-acceleration constraints (min-jerk)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Moving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 metric platform state (position + velocity, prediction)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[Kumar 2024 IEEE ICARCV]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52913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Off-board / external sensing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Platform-side sensing guides UAV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Moving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LiDAR on platform + UAV-platform comms link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[Kim 2017 IEEE URAI]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1775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Sensor-fusion estimation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Relative-state estimation for approach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Moving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Multi-</a:t>
                      </a:r>
                      <a:r>
                        <a:rPr lang="fr-F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sensor</a:t>
                      </a: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fusion (IMU + range / UWB / </a:t>
                      </a:r>
                      <a:r>
                        <a:rPr lang="fr-F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magnetometer</a:t>
                      </a: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[Bouazza 2025 </a:t>
                      </a:r>
                      <a:r>
                        <a:rPr lang="en-IN" sz="140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]; [Zhao 2012 IEEE Sensors J.]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965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Vision-based feedback</a:t>
                      </a:r>
                    </a:p>
                  </a:txBody>
                  <a:tcPr marL="45720" marR="4572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Visual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servoing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(PBVS / IBVS) and optic-flow feedback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Moving</a:t>
                      </a:r>
                    </a:p>
                  </a:txBody>
                  <a:tcPr marL="45720" marR="4572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Single monocular camera</a:t>
                      </a:r>
                    </a:p>
                  </a:txBody>
                  <a:tcPr marL="45720" marR="4572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[Lin 2022 IEEE TII]; [Zhang 2026 IEEE TIE]; [Lin 2023 IEEE TASE]; [Cho 2022 </a:t>
                      </a:r>
                      <a:r>
                        <a:rPr lang="en-IN" sz="140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Aerosp</a:t>
                      </a:r>
                      <a:r>
                        <a:rPr lang="en-IN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 Sci. Technol.]</a:t>
                      </a: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 VDF-ASMC (this work)</a:t>
                      </a:r>
                    </a:p>
                  </a:txBody>
                  <a:tcPr marL="45720" marR="4572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414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250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0A2E3-AD0B-C9F5-92F7-9A8D42E0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DE1A-0BAB-80A6-50A5-4AE71937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CBB11-F144-A4B1-0212-EF892DCA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34FEDC3-F5DF-B4BB-D820-7E60576D7A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145285"/>
              </p:ext>
            </p:extLst>
          </p:nvPr>
        </p:nvGraphicFramePr>
        <p:xfrm>
          <a:off x="133350" y="1473131"/>
          <a:ext cx="11937998" cy="5337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177893193"/>
                    </a:ext>
                  </a:extLst>
                </a:gridCol>
                <a:gridCol w="1986871">
                  <a:extLst>
                    <a:ext uri="{9D8B030D-6E8A-4147-A177-3AD203B41FA5}">
                      <a16:colId xmlns:a16="http://schemas.microsoft.com/office/drawing/2014/main" val="1656071308"/>
                    </a:ext>
                  </a:extLst>
                </a:gridCol>
                <a:gridCol w="941957">
                  <a:extLst>
                    <a:ext uri="{9D8B030D-6E8A-4147-A177-3AD203B41FA5}">
                      <a16:colId xmlns:a16="http://schemas.microsoft.com/office/drawing/2014/main" val="2380950793"/>
                    </a:ext>
                  </a:extLst>
                </a:gridCol>
                <a:gridCol w="1831583">
                  <a:extLst>
                    <a:ext uri="{9D8B030D-6E8A-4147-A177-3AD203B41FA5}">
                      <a16:colId xmlns:a16="http://schemas.microsoft.com/office/drawing/2014/main" val="3673333703"/>
                    </a:ext>
                  </a:extLst>
                </a:gridCol>
                <a:gridCol w="1681132">
                  <a:extLst>
                    <a:ext uri="{9D8B030D-6E8A-4147-A177-3AD203B41FA5}">
                      <a16:colId xmlns:a16="http://schemas.microsoft.com/office/drawing/2014/main" val="1908697736"/>
                    </a:ext>
                  </a:extLst>
                </a:gridCol>
                <a:gridCol w="1419477">
                  <a:extLst>
                    <a:ext uri="{9D8B030D-6E8A-4147-A177-3AD203B41FA5}">
                      <a16:colId xmlns:a16="http://schemas.microsoft.com/office/drawing/2014/main" val="3709318152"/>
                    </a:ext>
                  </a:extLst>
                </a:gridCol>
                <a:gridCol w="3048278">
                  <a:extLst>
                    <a:ext uri="{9D8B030D-6E8A-4147-A177-3AD203B41FA5}">
                      <a16:colId xmlns:a16="http://schemas.microsoft.com/office/drawing/2014/main" val="3533776298"/>
                    </a:ext>
                  </a:extLst>
                </a:gridCol>
              </a:tblGrid>
              <a:tr h="823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Work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Method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</a:rPr>
                        <a:t>Target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</a:rPr>
                        <a:t>Metric scale needed?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</a:rPr>
                        <a:t>Soft touchdown?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</a:rPr>
                        <a:t>Visibility guarantee?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</a:rPr>
                        <a:t>Key gap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183885747"/>
                  </a:ext>
                </a:extLst>
              </a:tr>
              <a:tr h="9021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400" kern="1200" dirty="0">
                          <a:solidFill>
                            <a:srgbClr val="FF0000"/>
                          </a:solidFill>
                        </a:rPr>
                        <a:t>[Lin 2022 IEEE TII]</a:t>
                      </a:r>
                      <a:endParaRPr lang="da-DK" sz="1400" kern="12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PBVS + Prescribed Performance Control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Moving platform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(relative position)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explicit guarantee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 (PPC bounds image error)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metric relative position; no soft-touchdown certificate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922003802"/>
                  </a:ext>
                </a:extLst>
              </a:tr>
              <a:tr h="9021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kern="1200">
                          <a:solidFill>
                            <a:srgbClr val="FF0000"/>
                          </a:solidFill>
                        </a:rPr>
                        <a:t>[Zhang 2026 IEEE TIE]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PBVS + Adaptive Extended Disturbance Observer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 platform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(position + disturbance est.)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- precise but not soft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 precisely but with non-zero impact velocity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744896713"/>
                  </a:ext>
                </a:extLst>
              </a:tr>
              <a:tr h="9021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400" kern="1200">
                          <a:solidFill>
                            <a:srgbClr val="FF0000"/>
                          </a:solidFill>
                        </a:rPr>
                        <a:t>[Lin 2023 IEEE TASE]</a:t>
                      </a:r>
                      <a:endParaRPr lang="da-DK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Robust circle-feature IBVS + performance funnel (PPC)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Moving vehicle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Depth-free features; needs own-velocity feedback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explicit guarantee (funnel on image error)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 (funnel bounds image error)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Performance funnel fixed a priori; no soft-touchdown certificate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29285320"/>
                  </a:ext>
                </a:extLst>
              </a:tr>
              <a:tr h="903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kern="1200" dirty="0">
                          <a:solidFill>
                            <a:srgbClr val="FF0000"/>
                          </a:solidFill>
                        </a:rPr>
                        <a:t>[Cho 2022 </a:t>
                      </a:r>
                      <a:r>
                        <a:rPr lang="en-IN" sz="1400" kern="1200" dirty="0" err="1">
                          <a:solidFill>
                            <a:srgbClr val="FF0000"/>
                          </a:solidFill>
                        </a:rPr>
                        <a:t>Aerosp</a:t>
                      </a:r>
                      <a:r>
                        <a:rPr lang="en-IN" sz="1400" kern="1200" dirty="0">
                          <a:solidFill>
                            <a:srgbClr val="FF0000"/>
                          </a:solidFill>
                        </a:rPr>
                        <a:t>. Sci. Technol.]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Feed-forward IBVS + sensor fusion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Ship deck (moving)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(height/GPS fusion)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velocity guarantee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Relies on sensor fusion for metric scale; no formal soft/visibility proof</a:t>
                      </a:r>
                    </a:p>
                  </a:txBody>
                  <a:tcPr marL="45720" marR="4572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7916"/>
                  </a:ext>
                </a:extLst>
              </a:tr>
              <a:tr h="903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VDF-ASMC (ours)</a:t>
                      </a:r>
                    </a:p>
                  </a:txBody>
                  <a:tcPr marL="45720" marR="4572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Dual-funnel ASMC (image + optic-flow funnel)</a:t>
                      </a:r>
                    </a:p>
                  </a:txBody>
                  <a:tcPr marL="45720" marR="4572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Moving target</a:t>
                      </a:r>
                    </a:p>
                  </a:txBody>
                  <a:tcPr marL="45720" marR="4572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- scale-free</a:t>
                      </a:r>
                    </a:p>
                  </a:txBody>
                  <a:tcPr marL="45720" marR="4572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— optic-flow funnel (empirical)</a:t>
                      </a:r>
                    </a:p>
                  </a:txBody>
                  <a:tcPr marL="45720" marR="4572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(image funnel + cone clamp)</a:t>
                      </a:r>
                    </a:p>
                  </a:txBody>
                  <a:tcPr marL="45720" marR="4572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45720" marR="4572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913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56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99"/>
    </mc:Choice>
    <mc:Fallback xmlns="">
      <p:transition spd="slow" advTm="4199"/>
    </mc:Fallback>
  </mc:AlternateContent>
  <p:extLst>
    <p:ext uri="{3A86A75C-4F4B-4683-9AE1-C65F6400EC91}">
      <p14:laserTraceLst xmlns:p14="http://schemas.microsoft.com/office/powerpoint/2010/main">
        <p14:tracePtLst>
          <p14:tracePt t="1672" x="4298950" y="2874963"/>
          <p14:tracePt t="1680" x="4322763" y="2874963"/>
          <p14:tracePt t="1691" x="4322763" y="2862263"/>
          <p14:tracePt t="1716" x="4333875" y="2862263"/>
          <p14:tracePt t="1724" x="4346575" y="2851150"/>
          <p14:tracePt t="1741" x="4357688" y="2814638"/>
          <p14:tracePt t="1758" x="4370388" y="2790825"/>
          <p14:tracePt t="1774" x="4381500" y="2755900"/>
          <p14:tracePt t="1791" x="4381500" y="2743200"/>
          <p14:tracePt t="1791" x="4381500" y="2732088"/>
          <p14:tracePt t="1808" x="4381500" y="2720975"/>
          <p14:tracePt t="1826" x="4381500" y="2697163"/>
          <p14:tracePt t="1850" x="4381500" y="2684463"/>
          <p14:tracePt t="1870" x="4381500" y="2673350"/>
          <p14:tracePt t="1894" x="4381500" y="2660650"/>
          <p14:tracePt t="1902" x="4381500" y="2649538"/>
          <p14:tracePt t="1918" x="4381500" y="2636838"/>
          <p14:tracePt t="2670" x="4381500" y="2625725"/>
          <p14:tracePt t="3350" x="4394200" y="2613025"/>
          <p14:tracePt t="3358" x="4405313" y="2578100"/>
          <p14:tracePt t="3366" x="4429125" y="2517775"/>
          <p14:tracePt t="3376" x="4476750" y="2400300"/>
          <p14:tracePt t="3391" x="4500563" y="2268538"/>
          <p14:tracePt t="3391" x="4537075" y="2125663"/>
          <p14:tracePt t="3408" x="4560888" y="1865313"/>
          <p14:tracePt t="3424" x="4572000" y="1330325"/>
          <p14:tracePt t="3441" x="4606925" y="962025"/>
          <p14:tracePt t="3441" x="4654550" y="5588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F94A-A0CB-9E4E-4362-64ABD7DEF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Virtual Image Plane?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515D8-B326-0A8C-AC43-5F354948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stationary_target">
            <a:hlinkClick r:id="" action="ppaction://media"/>
            <a:extLst>
              <a:ext uri="{FF2B5EF4-FFF2-40B4-BE49-F238E27FC236}">
                <a16:creationId xmlns:a16="http://schemas.microsoft.com/office/drawing/2014/main" id="{6F1D88C6-1835-92F1-5843-EDE9C7C0B16F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7404" end="11694"/>
                </p14:media>
              </p:ext>
            </p:extLst>
          </p:nvPr>
        </p:nvPicPr>
        <p:blipFill>
          <a:blip r:embed="rId4"/>
          <a:srcRect t="24046" b="24240"/>
          <a:stretch>
            <a:fillRect/>
          </a:stretch>
        </p:blipFill>
        <p:spPr>
          <a:xfrm>
            <a:off x="536886" y="2363006"/>
            <a:ext cx="3588173" cy="231945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1017CD-E57E-5615-D579-273889420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456" y="1922680"/>
            <a:ext cx="7350744" cy="29506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A883FF-F041-4FE5-7CD1-5C1DC3D35489}"/>
              </a:ext>
            </a:extLst>
          </p:cNvPr>
          <p:cNvSpPr txBox="1"/>
          <p:nvPr/>
        </p:nvSpPr>
        <p:spPr>
          <a:xfrm>
            <a:off x="5165280" y="5119551"/>
            <a:ext cx="6093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Projections of the target positions: </a:t>
            </a:r>
            <a:r>
              <a:rPr lang="en-IN" sz="1600" b="1" dirty="0"/>
              <a:t>(a)</a:t>
            </a:r>
            <a:r>
              <a:rPr lang="en-IN" sz="1600" dirty="0"/>
              <a:t> on the image plane and </a:t>
            </a:r>
            <a:r>
              <a:rPr lang="en-IN" sz="1600" b="1" dirty="0"/>
              <a:t>(b)</a:t>
            </a:r>
            <a:r>
              <a:rPr lang="en-IN" sz="1600" dirty="0"/>
              <a:t> on the virtual image plane. 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[Cho 2022 AST]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5BAE87-321C-7892-01B3-39785687BD0B}"/>
              </a:ext>
            </a:extLst>
          </p:cNvPr>
          <p:cNvSpPr txBox="1"/>
          <p:nvPr/>
        </p:nvSpPr>
        <p:spPr>
          <a:xfrm>
            <a:off x="478844" y="4873331"/>
            <a:ext cx="3704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Target image is moving out of the camera </a:t>
            </a:r>
            <a:r>
              <a:rPr lang="en-IN" sz="1600" dirty="0" err="1"/>
              <a:t>FoV</a:t>
            </a:r>
            <a:r>
              <a:rPr lang="en-IN" sz="1600" dirty="0"/>
              <a:t> when the UAV tends to move towards the target.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90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667EA5-A288-7D46-8990-7463F11D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Target Image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5C3ACE7-989F-6C3C-D04C-087F6FD914B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66256" y="1541059"/>
                <a:ext cx="7431010" cy="4351338"/>
              </a:xfrm>
            </p:spPr>
            <p:txBody>
              <a:bodyPr>
                <a:normAutofit/>
              </a:bodyPr>
              <a:lstStyle/>
              <a:p>
                <a:pPr marL="457189" lvl="1" indent="0">
                  <a:spcBef>
                    <a:spcPts val="8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Virtual Image position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 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𝒱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𝒱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𝒓</m:t>
                        </m:r>
                      </m:num>
                      <m:den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𝒱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457189" lvl="1" indent="0">
                  <a:spcBef>
                    <a:spcPts val="8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dirty="0"/>
                      <m:t>Virtual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IN" dirty="0"/>
                      <m:t>Image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IN" b="0" i="0" dirty="0" smtClean="0"/>
                      <m:t>orientation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457189" lvl="1" indent="0">
                  <a:spcBef>
                    <a:spcPts val="8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dirty="0"/>
                  <a:t>Virtual Image Velocity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𝒱</m:t>
                            </m:r>
                          </m:sup>
                        </m:s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𝒗</m:t>
                        </m:r>
                      </m:num>
                      <m:den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𝒱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IN" b="1" dirty="0"/>
              </a:p>
              <a:p>
                <a:pPr marL="457189" lvl="1" indent="0">
                  <a:spcBef>
                    <a:spcPts val="8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Virtual Image Angular Velocity Vector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5C3ACE7-989F-6C3C-D04C-087F6FD91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66256" y="1541059"/>
                <a:ext cx="743101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F7002CC-3462-A053-072D-4F73849548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77937" y="1690688"/>
            <a:ext cx="4181805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E95685-799E-4D90-10E7-179E4B4EDCE3}"/>
                  </a:ext>
                </a:extLst>
              </p:cNvPr>
              <p:cNvSpPr txBox="1"/>
              <p:nvPr/>
            </p:nvSpPr>
            <p:spPr>
              <a:xfrm>
                <a:off x="569546" y="4369740"/>
                <a:ext cx="6939490" cy="225164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Symbol Notations:</a:t>
                </a: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𝒱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𝒱</m:t>
                                </m:r>
                              </m:sup>
                            </m:sSup>
                            <m:acc>
                              <m:accPr>
                                <m:chr m:val="̂"/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𝒱</m:t>
                                </m:r>
                              </m:sup>
                            </m:sSup>
                            <m:acc>
                              <m:accPr>
                                <m:chr m:val="̂"/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Virtual image point</a:t>
                </a: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𝒱</m:t>
                        </m:r>
                      </m:sup>
                    </m:sSup>
                    <m:r>
                      <a:rPr lang="en-IN" sz="2000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𝒱</m:t>
                                </m:r>
                              </m:sup>
                            </m:s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𝒱</m:t>
                                </m:r>
                              </m:sup>
                            </m:s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𝒱</m:t>
                                </m:r>
                              </m:sup>
                            </m:sSup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𝒱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𝒱</m:t>
                                </m:r>
                              </m:sup>
                            </m:sSup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Target </a:t>
                </a:r>
                <a:r>
                  <a:rPr lang="en-IN" sz="2000" dirty="0"/>
                  <a:t>position relative to the UAV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virtual camera frame</a:t>
                </a: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𝒱</m:t>
                        </m:r>
                      </m:sup>
                    </m:sSup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/>
                  <a:t> Target linear velocity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/>
                  <a:t>position relative to the UAV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virtual camera frame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E95685-799E-4D90-10E7-179E4B4ED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46" y="4369740"/>
                <a:ext cx="6939490" cy="2251642"/>
              </a:xfrm>
              <a:prstGeom prst="rect">
                <a:avLst/>
              </a:prstGeom>
              <a:blipFill>
                <a:blip r:embed="rId4"/>
                <a:stretch>
                  <a:fillRect l="-788" t="-1344" r="-525" b="-376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477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2BBF-3B1B-AEE5-7D99-11B0B48D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Output Dynamics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7AC5A2-FFDF-594F-66EA-D3C62610C6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 fontScale="85000" lnSpcReduction="20000"/>
              </a:bodyPr>
              <a:lstStyle/>
              <a:p>
                <a:r>
                  <a:rPr lang="en-US" dirty="0"/>
                  <a:t>Image position kinematics is given as:</a:t>
                </a:r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</m:d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</m:acc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IN" b="1" dirty="0"/>
                  <a:t> </a:t>
                </a:r>
              </a:p>
              <a:p>
                <a:r>
                  <a:rPr lang="en-US" dirty="0"/>
                  <a:t>Image orientation kinematics is given as: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IN" b="0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IN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  <a:p>
                <a:r>
                  <a:rPr lang="en-IN" dirty="0"/>
                  <a:t>Optical flow dynamics is given as:</a:t>
                </a:r>
              </a:p>
              <a:p>
                <a:pPr>
                  <a:lnSpc>
                    <a:spcPct val="107000"/>
                  </a:lnSpc>
                </a:pPr>
                <a:r>
                  <a:rPr lang="en-IN" dirty="0">
                    <a:solidFill>
                      <a:schemeClr val="tx1"/>
                    </a:solidFill>
                    <a:effectLst/>
                  </a:rPr>
                  <a:t>	</a:t>
                </a:r>
                <a:r>
                  <a:rPr lang="en-IN" dirty="0">
                    <a:ea typeface="Calibri" panose="020F0502020204030204" pitchFamily="34" charset="0"/>
                  </a:rPr>
                  <a:t>Perturbed nonlinear equation:	</a:t>
                </a:r>
                <a:endParaRPr lang="en-IN" dirty="0"/>
              </a:p>
              <a:p>
                <a:pPr marL="457189" lvl="1" indent="0">
                  <a:spcBef>
                    <a:spcPts val="0"/>
                  </a:spcBef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acc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i="1" dirty="0">
                    <a:ea typeface="Calibri" panose="020F0502020204030204" pitchFamily="34" charset="0"/>
                  </a:rPr>
                  <a:t> </a:t>
                </a:r>
              </a:p>
              <a:p>
                <a:pPr lvl="1"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667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𝐵</m:t>
                    </m:r>
                    <m:d>
                      <m:dPr>
                        <m:ctrlP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dPr>
                      <m:e>
                        <m: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IN" sz="2667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IN" sz="2667" i="1" dirty="0">
                        <a:ea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667" dirty="0">
                        <a:ea typeface="Calibri" panose="020F0502020204030204" pitchFamily="34" charset="0"/>
                      </a:rPr>
                      <m:t>Singularity</m:t>
                    </m:r>
                    <m:r>
                      <m:rPr>
                        <m:nor/>
                      </m:rPr>
                      <a:rPr lang="en-IN" sz="2667" dirty="0">
                        <a:ea typeface="Calibri" panose="020F0502020204030204" pitchFamily="34" charset="0"/>
                      </a:rPr>
                      <m:t> + </m:t>
                    </m:r>
                    <m:r>
                      <m:rPr>
                        <m:nor/>
                      </m:rPr>
                      <a:rPr lang="en-US" sz="2667" dirty="0">
                        <a:ea typeface="Calibri" panose="020F0502020204030204" pitchFamily="34" charset="0"/>
                      </a:rPr>
                      <m:t>Ground</m:t>
                    </m:r>
                    <m:r>
                      <m:rPr>
                        <m:nor/>
                      </m:rPr>
                      <a:rPr lang="en-US" sz="2667" dirty="0">
                        <a:ea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667" dirty="0">
                        <a:ea typeface="Calibri" panose="020F0502020204030204" pitchFamily="34" charset="0"/>
                      </a:rPr>
                      <m:t>effe</m:t>
                    </m:r>
                    <m:r>
                      <m:rPr>
                        <m:sty m:val="p"/>
                      </m:rPr>
                      <a:rPr lang="en-US" sz="2667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ct</m:t>
                    </m:r>
                    <m:r>
                      <a:rPr lang="en-US" sz="2667" i="1" dirty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en-IN" sz="2667" i="1">
                        <a:latin typeface="Cambria Math" panose="02040503050406030204" pitchFamily="18" charset="0"/>
                      </a:rPr>
                      <m:t>0&lt;</m:t>
                    </m:r>
                    <m:bar>
                      <m:bar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667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bar>
                    <m:r>
                      <a:rPr lang="en-IN" sz="2667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‖"/>
                        <m:endChr m:val="‖"/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IN" sz="2667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67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IN" sz="2667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̅"/>
                        <m:ctrlP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m:rPr>
                        <m:nor/>
                      </m:rPr>
                      <a:rPr lang="en-IN" sz="2667" i="1" dirty="0"/>
                      <m:t> </m:t>
                    </m:r>
                    <m:r>
                      <m:rPr>
                        <m:nor/>
                      </m:rPr>
                      <a:rPr lang="en-IN" sz="2667" dirty="0"/>
                      <m:t>(</m:t>
                    </m:r>
                    <m:r>
                      <m:rPr>
                        <m:nor/>
                      </m:rPr>
                      <a:rPr lang="en-IN" sz="2667" dirty="0"/>
                      <m:t>Unknown</m:t>
                    </m:r>
                    <m:r>
                      <m:rPr>
                        <m:nor/>
                      </m:rPr>
                      <a:rPr lang="en-IN" sz="2667" dirty="0"/>
                      <m:t>)</m:t>
                    </m:r>
                    <m:r>
                      <m:rPr>
                        <m:nor/>
                      </m:rPr>
                      <a:rPr lang="en-IN" sz="2667" i="1" dirty="0"/>
                      <m:t>,</m:t>
                    </m:r>
                  </m:oMath>
                </a14:m>
                <a:endParaRPr lang="en-US" sz="2667" i="1" dirty="0"/>
              </a:p>
              <a:p>
                <a:pPr lvl="1"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667" b="1" i="1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IN" sz="2667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IN" sz="2667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a:rPr lang="en-IN" sz="2667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67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67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667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667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67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en-US" sz="2667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667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</m:d>
                          </m:e>
                        </m:d>
                        <m:r>
                          <a:rPr lang="en-US" sz="2667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2667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667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667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</m:acc>
                          </m:e>
                          <m:sub>
                            <m:r>
                              <a:rPr lang="en-US" sz="2667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sz="2667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n-US" sz="2667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sSup>
                      <m:sSupPr>
                        <m:ctrlPr>
                          <a:rPr lang="en-US" sz="2667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667" b="1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𝒉</m:t>
                        </m:r>
                      </m:e>
                      <m:sup>
                        <m:r>
                          <a:rPr lang="en-US" sz="2667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667" dirty="0"/>
                  <a:t> (Known)</a:t>
                </a:r>
              </a:p>
              <a:p>
                <a:pPr lvl="1"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667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𝒅</m:t>
                    </m:r>
                    <m:d>
                      <m:dPr>
                        <m:ctrlP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dPr>
                      <m:e>
                        <m: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IN" sz="2667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=</m:t>
                    </m:r>
                  </m:oMath>
                </a14:m>
                <a:r>
                  <a:rPr lang="en-IN" sz="2667" i="1" dirty="0">
                    <a:ea typeface="Calibri" panose="020F0502020204030204" pitchFamily="34" charset="0"/>
                  </a:rPr>
                  <a:t> </a:t>
                </a:r>
                <a:r>
                  <a:rPr lang="en-IN" sz="2667" dirty="0">
                    <a:ea typeface="Calibri" panose="020F0502020204030204" pitchFamily="34" charset="0"/>
                  </a:rPr>
                  <a:t>Measurement noise + Wind gusts,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dPr>
                      <m:e>
                        <m:r>
                          <a:rPr lang="en-US" sz="2667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𝒅</m:t>
                        </m:r>
                        <m: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(</m:t>
                        </m:r>
                        <m: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𝑡</m:t>
                        </m:r>
                        <m: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IN" sz="2667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IN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accPr>
                      <m:e>
                        <m:r>
                          <a:rPr lang="en-US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IN" sz="2667" dirty="0">
                    <a:ea typeface="Calibri" panose="020F0502020204030204" pitchFamily="34" charset="0"/>
                  </a:rPr>
                  <a:t> (Unknown).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Find suitable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  <a:cs typeface="Helvetica" panose="020B0604020202020204" pitchFamily="34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Helvetica" panose="020B0604020202020204" pitchFamily="34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Helvetica" panose="020B0604020202020204" pitchFamily="34" charset="0"/>
                                <a:sym typeface="Wingdings" panose="05000000000000000000" pitchFamily="2" charset="2"/>
                              </a:rPr>
                              <m:t>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Helvetica" panose="020B0604020202020204" pitchFamily="34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Helvetica" panose="020B0604020202020204" pitchFamily="34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Helvetica" panose="020B0604020202020204" pitchFamily="34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Helvetica" panose="020B0604020202020204" pitchFamily="34" charset="0"/>
                        <a:sym typeface="Wingdings" panose="05000000000000000000" pitchFamily="2" charset="2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Helvetica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  <a:sym typeface="Wingdings" panose="05000000000000000000" pitchFamily="2" charset="2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  <a:sym typeface="Wingdings" panose="05000000000000000000" pitchFamily="2" charset="2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IN" dirty="0"/>
                  <a:t>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→∞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0&lt;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≪1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7AC5A2-FFDF-594F-66EA-D3C62610C6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12" t="-2101" b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09D96-0E06-0CD4-F41A-8622E2B2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26E10-9B5A-EFEC-0DC4-BEC128C7FEFA}"/>
              </a:ext>
            </a:extLst>
          </p:cNvPr>
          <p:cNvSpPr/>
          <p:nvPr/>
        </p:nvSpPr>
        <p:spPr bwMode="auto">
          <a:xfrm>
            <a:off x="838200" y="5703299"/>
            <a:ext cx="8937567" cy="47366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3200">
              <a:latin typeface="Arial" charset="0"/>
              <a:ea typeface="ＭＳ Ｐゴシック" pitchFamily="80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326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64"/>
    </mc:Choice>
    <mc:Fallback xmlns="">
      <p:transition spd="slow" advTm="141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B30B-3FE4-47BE-B83A-DBE2A33B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923CD-7BF4-FB92-9A0D-702E8EF04B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4556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000" b="1" dirty="0"/>
                  <a:t>Define: </a:t>
                </a:r>
              </a:p>
              <a:p>
                <a:r>
                  <a:rPr lang="en-IN" sz="1800" dirty="0"/>
                  <a:t>Lateral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d>
                      <m:d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1800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d>
                      <m:d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1800" i="1">
                                <a:latin typeface="Cambria Math" panose="02040503050406030204" pitchFamily="18" charset="0"/>
                              </a:rPr>
                              <m:t>𝒱</m:t>
                            </m:r>
                          </m:sup>
                        </m:sSup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  <m:d>
                          <m:d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IN" sz="1800" dirty="0"/>
                  <a:t>.</a:t>
                </a:r>
              </a:p>
              <a:p>
                <a:r>
                  <a:rPr lang="en-IN" sz="1800" dirty="0"/>
                  <a:t>Touchdown at time</a:t>
                </a:r>
                <a14:m>
                  <m:oMath xmlns:m="http://schemas.openxmlformats.org/officeDocument/2006/math">
                    <m:r>
                      <a:rPr lang="en-IN" sz="1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800" dirty="0"/>
                  <a:t>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𝒱</m:t>
                        </m:r>
                      </m:sup>
                    </m:sSup>
                    <m:r>
                      <a:rPr lang="en-IN" sz="1800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r>
                  <a:rPr lang="en-US" sz="2000" b="1" dirty="0"/>
                  <a:t>Design a control law that achieves soft-precise landing while keeping the target visible:</a:t>
                </a:r>
                <a:endParaRPr lang="en-IN" sz="2000" b="1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IN" sz="1800" dirty="0"/>
                  <a:t>Precision — lateral convergence precedes descent.</a:t>
                </a:r>
              </a:p>
              <a:p>
                <a:pPr marL="0" indent="0">
                  <a:buNone/>
                </a:pPr>
                <a:r>
                  <a:rPr lang="en-IN" sz="1800" dirty="0"/>
                  <a:t>	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8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1800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1800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IN" sz="18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800" i="1" dirty="0" err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d>
                      <m:d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800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1800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18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800" b="0" i="1" dirty="0">
                    <a:latin typeface="Cambria Math" panose="02040503050406030204" pitchFamily="18" charset="0"/>
                  </a:rPr>
                  <a:t> </a:t>
                </a:r>
                <a:r>
                  <a:rPr lang="en-IN" sz="1800" b="0" dirty="0">
                    <a:latin typeface="Cambria Math" panose="02040503050406030204" pitchFamily="18" charset="0"/>
                  </a:rPr>
                  <a:t>such that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𝒱</m:t>
                        </m:r>
                      </m:sup>
                    </m:sSup>
                    <m:r>
                      <a:rPr lang="en-IN" sz="1800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1800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IN" sz="1800" i="1" dirty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1800" i="0" dirty="0" err="1">
                            <a:latin typeface="Cambria Math" panose="02040503050406030204" pitchFamily="18" charset="0"/>
                          </a:rPr>
                          <m:t>lg</m:t>
                        </m:r>
                      </m:sub>
                    </m:sSub>
                    <m:r>
                      <a:rPr lang="en-IN" sz="1800" i="1" dirty="0">
                        <a:latin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800" i="1" dirty="0" err="1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IN" sz="1800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IN" sz="1800" dirty="0"/>
              </a:p>
              <a:p>
                <a:pPr marL="514350" indent="-514350">
                  <a:buFont typeface="+mj-lt"/>
                  <a:buAutoNum type="alphaLcParenR" startAt="2"/>
                </a:pPr>
                <a:r>
                  <a:rPr lang="en-IN" sz="1800" dirty="0"/>
                  <a:t>Softness — relative velocity vanishes as altitude closes.</a:t>
                </a:r>
              </a:p>
              <a:p>
                <a:pPr marL="0" indent="0">
                  <a:buNone/>
                </a:pPr>
                <a:r>
                  <a:rPr lang="en-IN" sz="18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𝒱</m:t>
                        </m:r>
                      </m:sup>
                    </m:sSup>
                    <m:r>
                      <a:rPr lang="en-IN" sz="1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d>
                      <m:dPr>
                        <m:begChr m:val="‖"/>
                        <m:endChr m:val="‖"/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1800" i="1">
                                <a:latin typeface="Cambria Math" panose="02040503050406030204" pitchFamily="18" charset="0"/>
                              </a:rPr>
                              <m:t>𝒱</m:t>
                            </m:r>
                          </m:sup>
                        </m:sSup>
                        <m:r>
                          <a:rPr lang="en-US" sz="1800" b="1" i="1" dirty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IN" sz="1800" dirty="0"/>
              </a:p>
              <a:p>
                <a:pPr marL="514350" indent="-514350">
                  <a:buFont typeface="+mj-lt"/>
                  <a:buAutoNum type="alphaLcParenR" startAt="3"/>
                </a:pPr>
                <a:r>
                  <a:rPr lang="en-IN" sz="1800" dirty="0"/>
                  <a:t>Target visibility — the target remains visible for all time. The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800" dirty="0"/>
                  <a:t> image feature points stay within the </a:t>
                </a:r>
                <a:r>
                  <a:rPr lang="en-IN" sz="1800" dirty="0" err="1"/>
                  <a:t>FoV</a:t>
                </a:r>
                <a:r>
                  <a:rPr lang="en-IN" sz="1800" dirty="0"/>
                  <a:t>:   	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ℛ</m:t>
                        </m:r>
                      </m:num>
                      <m:den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𝒞</m:t>
                        </m:r>
                      </m:sup>
                    </m:sSup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  <m:sub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800" i="1" dirty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ℛ</m:t>
                        </m:r>
                      </m:num>
                      <m:den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∈{1,…,</m:t>
                    </m:r>
                    <m:r>
                      <a:rPr lang="en-IN" sz="1800" i="1" dirty="0" err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en-IN" sz="1800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800" dirty="0"/>
                  <a:t>, camera resolution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 dirty="0" err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1800" i="1" dirty="0" err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IN" sz="1800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sz="18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 dirty="0" err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1800" i="1" dirty="0" err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IN" sz="1800" dirty="0"/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r>
                  <a:rPr lang="en-US" sz="2000" b="1" dirty="0"/>
                  <a:t>Soft-precise landing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000" b="1" dirty="0"/>
                  <a:t> a)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000" b="1" dirty="0"/>
                  <a:t> b), subject to c) holding throughout.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923CD-7BF4-FB92-9A0D-702E8EF04B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4556"/>
                <a:ext cx="10515600" cy="4351338"/>
              </a:xfrm>
              <a:blipFill>
                <a:blip r:embed="rId3"/>
                <a:stretch>
                  <a:fillRect l="-638" t="-1401" b="-190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58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9619-9F5A-8F2A-9B60-3A6997D2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31211-5384-34C3-A8CD-397CDAD1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9DCC3-153B-AF46-5029-45A25C7CF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C049BC-7E38-6E2D-CA36-D039A618D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35146"/>
            <a:ext cx="12192000" cy="52863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754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45"/>
    </mc:Choice>
    <mc:Fallback xmlns="">
      <p:transition spd="slow" advTm="1734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DBF8-365A-C936-31B6-1AAF77BE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2915-E7EE-BE0B-1EC6-589873B2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Novelty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6CBE1C-2835-B53B-9614-3A00BAEC0C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1133" y="1542933"/>
                <a:ext cx="11582400" cy="4484864"/>
              </a:xfrm>
            </p:spPr>
            <p:txBody>
              <a:bodyPr anchor="ctr"/>
              <a:lstStyle/>
              <a:p>
                <a:r>
                  <a:rPr lang="en-IN" dirty="0"/>
                  <a:t>Performance-constrained Leakage-type Adaptive Sliding Mode Control (PLASMC):</a:t>
                </a:r>
                <a:endParaRPr lang="en-IN" sz="2667" i="1" dirty="0"/>
              </a:p>
              <a:p>
                <a:pPr lvl="1"/>
                <a:r>
                  <a:rPr lang="en-IN" sz="2667" i="1" dirty="0"/>
                  <a:t>Equivalent control</a:t>
                </a:r>
              </a:p>
              <a:p>
                <a:pPr lvl="1"/>
                <a:r>
                  <a:rPr lang="en-IN" sz="2667" i="1" dirty="0"/>
                  <a:t>Switching control</a:t>
                </a:r>
                <a:endParaRPr lang="en-IN" sz="933" i="1" dirty="0"/>
              </a:p>
              <a:p>
                <a:pPr>
                  <a:spcBef>
                    <a:spcPts val="800"/>
                  </a:spcBef>
                </a:pPr>
                <a:r>
                  <a:rPr lang="en-IN" b="1" dirty="0">
                    <a:solidFill>
                      <a:schemeClr val="tx1"/>
                    </a:solidFill>
                    <a:effectLst/>
                  </a:rPr>
                  <a:t>Control Law: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67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IN" sz="2667" b="1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  <m:sub>
                        <m:r>
                          <a:rPr lang="en-IN" sz="2667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67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2667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67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667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67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2667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67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US" sz="2667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67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667" dirty="0"/>
              </a:p>
              <a:p>
                <a:pPr marL="457189" lvl="1" indent="0">
                  <a:spcBef>
                    <a:spcPts val="800"/>
                  </a:spcBef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such that</a:t>
                </a:r>
              </a:p>
              <a:p>
                <a:pPr marL="457189" lvl="1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𝑠𝑎𝑡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IN" dirty="0"/>
                  <a:t> </a:t>
                </a:r>
              </a:p>
              <a:p>
                <a:pPr marL="457189" lvl="1" indent="0">
                  <a:spcBef>
                    <a:spcPts val="0"/>
                  </a:spcBef>
                  <a:buNone/>
                </a:pPr>
                <a:endParaRPr lang="en-IN" sz="800" dirty="0"/>
              </a:p>
              <a:p>
                <a:pPr marL="457189" lvl="1" indent="0">
                  <a:spcBef>
                    <a:spcPts val="0"/>
                  </a:spcBef>
                  <a:buNone/>
                </a:pPr>
                <a:r>
                  <a:rPr lang="en-IN" dirty="0"/>
                  <a:t>with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IN" sz="2133" dirty="0"/>
                  <a:t>.</a:t>
                </a:r>
                <a:r>
                  <a:rPr lang="en-IN" sz="2133" dirty="0">
                    <a:solidFill>
                      <a:srgbClr val="FF0000"/>
                    </a:solidFill>
                  </a:rPr>
                  <a:t>	</a:t>
                </a:r>
                <a:endParaRPr lang="en-IN" dirty="0"/>
              </a:p>
              <a:p>
                <a:pPr>
                  <a:spcBef>
                    <a:spcPts val="800"/>
                  </a:spcBef>
                </a:pPr>
                <a:r>
                  <a:rPr lang="en-IN" b="1" dirty="0">
                    <a:solidFill>
                      <a:schemeClr val="tx1"/>
                    </a:solidFill>
                    <a:effectLst/>
                  </a:rPr>
                  <a:t>Adaptive Law: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sz="2667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2667">
                                <a:latin typeface="Cambria Math" panose="02040503050406030204" pitchFamily="18" charset="0"/>
                              </a:rPr>
                              <m:t>κ</m:t>
                            </m:r>
                          </m:e>
                        </m:acc>
                      </m:e>
                      <m:sub>
                        <m:r>
                          <a:rPr lang="en-US" sz="2667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667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667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667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sSub>
                          <m:sSubPr>
                            <m:ctrlPr>
                              <a:rPr lang="en-US" sz="266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67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667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IN" sz="2667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66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667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2667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IN" sz="2667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667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IN" sz="2667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IN" sz="2667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667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67" b="1" i="1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en-US" sz="2667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2667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667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IN" sz="2667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667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667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667"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a:rPr lang="en-US" sz="2667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667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sSub>
                          <m:sSubPr>
                            <m:ctrlPr>
                              <a:rPr lang="en-US" sz="266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67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667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667">
                            <a:latin typeface="Cambria Math" panose="02040503050406030204" pitchFamily="18" charset="0"/>
                          </a:rPr>
                          <m:t>κ</m:t>
                        </m:r>
                      </m:e>
                      <m:sub>
                        <m:r>
                          <a:rPr lang="en-US" sz="2667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266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67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6CBE1C-2835-B53B-9614-3A00BAEC0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133" y="1542933"/>
                <a:ext cx="11582400" cy="4484864"/>
              </a:xfrm>
              <a:blipFill>
                <a:blip r:embed="rId4"/>
                <a:stretch>
                  <a:fillRect l="-947" t="-1359" b="-2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2C096-9ADE-C1AB-11BA-38D54715F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F6DAB-8272-252C-7CE3-B5DDD1E8F1A1}"/>
                  </a:ext>
                </a:extLst>
              </p:cNvPr>
              <p:cNvSpPr txBox="1"/>
              <p:nvPr/>
            </p:nvSpPr>
            <p:spPr>
              <a:xfrm>
                <a:off x="6565529" y="2044809"/>
                <a:ext cx="5416703" cy="230832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Symbol Notations:</a:t>
                </a: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Κ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Control matrices</a:t>
                </a: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	 = Sliding variable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= Uncertainty coefficient matrix</a:t>
                </a: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= Coefficient matrix</a:t>
                </a: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= Constrained output matrix </a:t>
                </a: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= Prescribed performance function</a:t>
                </a:r>
              </a:p>
              <a:p>
                <a:pPr indent="14399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𝛇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= Unconstrained output variable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F6DAB-8272-252C-7CE3-B5DDD1E8F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529" y="2044809"/>
                <a:ext cx="5416703" cy="2308324"/>
              </a:xfrm>
              <a:prstGeom prst="rect">
                <a:avLst/>
              </a:prstGeom>
              <a:blipFill>
                <a:blip r:embed="rId5"/>
                <a:stretch>
                  <a:fillRect l="-561" t="-1047" b="-261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0FA1F8D-E58C-EB41-EEFF-8B181B46EF1F}"/>
              </a:ext>
            </a:extLst>
          </p:cNvPr>
          <p:cNvSpPr/>
          <p:nvPr/>
        </p:nvSpPr>
        <p:spPr bwMode="auto">
          <a:xfrm>
            <a:off x="2734301" y="3307416"/>
            <a:ext cx="3190516" cy="46633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3200">
              <a:latin typeface="Arial" charset="0"/>
              <a:ea typeface="ＭＳ Ｐゴシック" pitchFamily="80" charset="-128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F5380C-DC6E-CF48-6182-387A22FB9B8A}"/>
              </a:ext>
            </a:extLst>
          </p:cNvPr>
          <p:cNvGrpSpPr/>
          <p:nvPr/>
        </p:nvGrpSpPr>
        <p:grpSpPr>
          <a:xfrm>
            <a:off x="8366956" y="4858115"/>
            <a:ext cx="3264000" cy="596094"/>
            <a:chOff x="1566105" y="3756158"/>
            <a:chExt cx="2448000" cy="44707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3ED4F550-FCDB-723B-171D-704EC90C2DD8}"/>
                </a:ext>
              </a:extLst>
            </p:cNvPr>
            <p:cNvSpPr/>
            <p:nvPr/>
          </p:nvSpPr>
          <p:spPr bwMode="auto">
            <a:xfrm rot="5400000">
              <a:off x="2700105" y="2622158"/>
              <a:ext cx="180000" cy="2448000"/>
            </a:xfrm>
            <a:prstGeom prst="rightBrac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3200" dirty="0">
                <a:latin typeface="Arial" charset="0"/>
                <a:ea typeface="ＭＳ Ｐゴシック" pitchFamily="80" charset="-12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0428BDD-7387-8FC3-9A77-DFDB51A68F50}"/>
                </a:ext>
              </a:extLst>
            </p:cNvPr>
            <p:cNvSpPr txBox="1"/>
            <p:nvPr/>
          </p:nvSpPr>
          <p:spPr>
            <a:xfrm>
              <a:off x="1907163" y="3887806"/>
              <a:ext cx="1765883" cy="31542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2133" kern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Switching Control</a:t>
              </a:r>
              <a:endParaRPr lang="en-IN" sz="24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FB3FE0-A059-5D25-50AB-7F3DAD40994E}"/>
              </a:ext>
            </a:extLst>
          </p:cNvPr>
          <p:cNvGrpSpPr/>
          <p:nvPr/>
        </p:nvGrpSpPr>
        <p:grpSpPr>
          <a:xfrm>
            <a:off x="2124380" y="4856562"/>
            <a:ext cx="6000000" cy="581159"/>
            <a:chOff x="3676548" y="3756157"/>
            <a:chExt cx="4500000" cy="435869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535057DF-C641-5910-9F6F-3B1CDD0D67A9}"/>
                </a:ext>
              </a:extLst>
            </p:cNvPr>
            <p:cNvSpPr/>
            <p:nvPr/>
          </p:nvSpPr>
          <p:spPr bwMode="auto">
            <a:xfrm rot="5400000">
              <a:off x="5836548" y="1596157"/>
              <a:ext cx="180000" cy="4500000"/>
            </a:xfrm>
            <a:prstGeom prst="rightBrac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3200" dirty="0">
                <a:latin typeface="Arial" charset="0"/>
                <a:ea typeface="ＭＳ Ｐゴシック" pitchFamily="80" charset="-12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212460-097C-3B6E-C1E7-69885FBA00FE}"/>
                </a:ext>
              </a:extLst>
            </p:cNvPr>
            <p:cNvSpPr txBox="1"/>
            <p:nvPr/>
          </p:nvSpPr>
          <p:spPr>
            <a:xfrm>
              <a:off x="4715435" y="3876603"/>
              <a:ext cx="2422226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133" kern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Equivalent Control</a:t>
              </a:r>
              <a:endParaRPr lang="en-IN" sz="24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5585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31"/>
    </mc:Choice>
    <mc:Fallback xmlns="">
      <p:transition spd="slow" advTm="122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36CE-5650-CBE0-8A56-5D1759D2F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8AB90-AAB9-65A3-EC76-E5D0EADD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4B450DF-58CC-341E-0845-38DA9A8B3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91402" y="1498601"/>
            <a:ext cx="7813431" cy="4485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3794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13"/>
    </mc:Choice>
    <mc:Fallback xmlns="">
      <p:transition spd="slow" advTm="921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C817-0EE2-1489-593D-4BDDF6C5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B882-9854-0689-EEBD-CAF0CDB7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E454D-5ED6-281E-4F0C-2FDAA72C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784EC5-E282-1090-33E3-E3D623935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88681" y="1498601"/>
            <a:ext cx="7818873" cy="4485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26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13"/>
    </mc:Choice>
    <mc:Fallback xmlns="">
      <p:transition spd="slow" advTm="921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B095-1EE9-151A-FB60-7E5589B2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6D3C-7745-08A5-5444-E24EFD3D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EC5FD-BFAA-6E90-75D7-1E70223C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EED29E4-1D49-8B77-C8FD-A98A30672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77692" y="1498601"/>
            <a:ext cx="7840851" cy="4485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5031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13"/>
    </mc:Choice>
    <mc:Fallback xmlns="">
      <p:transition spd="slow" advTm="921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556C-748F-1BA5-D668-048015F3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68B4B-C722-5C73-0F1D-902B9594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6CE9A-0E00-52CD-867F-C028647D7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E0732A-D56B-BE06-8999-0C9A943E7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85051" y="1498601"/>
            <a:ext cx="7826133" cy="4485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529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57"/>
    </mc:Choice>
    <mc:Fallback xmlns="">
      <p:transition spd="slow" advTm="1605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D4F8-782C-2593-8E0C-754D5FC7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4524-0205-3707-4CEB-D89E5174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E0724-5A98-1E6F-A032-9EAD93B8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BE64E0-E2DA-3B8D-4FCA-602EA284E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91875" y="1498601"/>
            <a:ext cx="7812485" cy="4485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9962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57"/>
    </mc:Choice>
    <mc:Fallback xmlns="">
      <p:transition spd="slow" advTm="1605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76DD-D5C2-7F22-3A68-F3FFD4A16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0B1FF-5588-147A-EECC-DFBC24CC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pic>
        <p:nvPicPr>
          <p:cNvPr id="19" name="Content Placeholder 13">
            <a:extLst>
              <a:ext uri="{FF2B5EF4-FFF2-40B4-BE49-F238E27FC236}">
                <a16:creationId xmlns:a16="http://schemas.microsoft.com/office/drawing/2014/main" id="{BBB2893A-BD31-8584-ACDA-74FA43AA2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3436829" y="1391192"/>
            <a:ext cx="5318341" cy="5330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707D0-E72A-35F9-F244-6EA423C66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1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57"/>
    </mc:Choice>
    <mc:Fallback xmlns="">
      <p:transition spd="slow" advTm="1605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545C-05DB-4AAF-0722-E73467D7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AD79E9B-681C-71DF-7A6E-B989DA3118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691766" y="1498600"/>
            <a:ext cx="450926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7373F-C71B-F72D-61A8-7B0542C9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F71DF-9325-D329-9D11-1EDB3FD0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4D92D68-AACA-15D8-664A-189BFC40C2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75367" y="1324643"/>
            <a:ext cx="4778433" cy="467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2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57"/>
    </mc:Choice>
    <mc:Fallback xmlns="">
      <p:transition spd="slow" advTm="1605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E0CA81-4AA6-8DF9-0567-D50B8A60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3BF23F-1804-17F7-D911-92734E0DC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793" y="1537854"/>
            <a:ext cx="10406414" cy="5087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FAAC8E-E61E-E74B-92FE-8CDF915ACC5C}"/>
              </a:ext>
            </a:extLst>
          </p:cNvPr>
          <p:cNvSpPr txBox="1"/>
          <p:nvPr/>
        </p:nvSpPr>
        <p:spPr>
          <a:xfrm>
            <a:off x="503209" y="2172337"/>
            <a:ext cx="18000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</a:rPr>
              <a:t>[Lin 2022 IEEE TII]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CF8EC-F2B4-662C-C6D0-20814636743B}"/>
              </a:ext>
            </a:extLst>
          </p:cNvPr>
          <p:cNvSpPr txBox="1"/>
          <p:nvPr/>
        </p:nvSpPr>
        <p:spPr>
          <a:xfrm>
            <a:off x="503209" y="3013925"/>
            <a:ext cx="18000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</a:rPr>
              <a:t>[Zhang 2026 IEEE TIE];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AE5CF-0876-9CF2-4A94-D7376339DF69}"/>
              </a:ext>
            </a:extLst>
          </p:cNvPr>
          <p:cNvSpPr txBox="1"/>
          <p:nvPr/>
        </p:nvSpPr>
        <p:spPr>
          <a:xfrm>
            <a:off x="503209" y="4081548"/>
            <a:ext cx="18000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</a:rPr>
              <a:t>[Lin 2023 IEEE TASE]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3947D-6F87-A175-6A27-665392CED9D7}"/>
              </a:ext>
            </a:extLst>
          </p:cNvPr>
          <p:cNvSpPr txBox="1"/>
          <p:nvPr/>
        </p:nvSpPr>
        <p:spPr>
          <a:xfrm>
            <a:off x="503209" y="5411240"/>
            <a:ext cx="18000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</a:rPr>
              <a:t> [Cho 2022 </a:t>
            </a:r>
            <a:r>
              <a:rPr lang="en-IN" sz="1400" dirty="0" err="1">
                <a:solidFill>
                  <a:srgbClr val="FF0000"/>
                </a:solidFill>
              </a:rPr>
              <a:t>Aerosp</a:t>
            </a:r>
            <a:r>
              <a:rPr lang="en-IN" sz="1400" dirty="0">
                <a:solidFill>
                  <a:srgbClr val="FF0000"/>
                </a:solidFill>
              </a:rPr>
              <a:t>. Sci. Technol.]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9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7270-B92C-FA62-09EB-88896ED6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Progress on Gazebo SITL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87DD9-BCE3-ACB6-7B5D-5D5345672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6568"/>
            <a:ext cx="11582400" cy="4484864"/>
          </a:xfrm>
        </p:spPr>
        <p:txBody>
          <a:bodyPr/>
          <a:lstStyle/>
          <a:p>
            <a:r>
              <a:rPr lang="en-IN" dirty="0"/>
              <a:t>Implementation pipeline:</a:t>
            </a:r>
          </a:p>
          <a:p>
            <a:pPr lvl="1"/>
            <a:r>
              <a:rPr lang="en-IN" dirty="0"/>
              <a:t>Setup connection with Flight Controller using MAVSDK.</a:t>
            </a:r>
          </a:p>
          <a:p>
            <a:pPr lvl="1"/>
            <a:r>
              <a:rPr lang="en-IN" dirty="0"/>
              <a:t>Accessed clock, pose and image data from Gazebo simulator.</a:t>
            </a:r>
          </a:p>
          <a:p>
            <a:pPr lvl="1"/>
            <a:r>
              <a:rPr lang="en-IN" dirty="0"/>
              <a:t>Designed nested </a:t>
            </a:r>
            <a:r>
              <a:rPr lang="en-IN" dirty="0" err="1"/>
              <a:t>aruco</a:t>
            </a:r>
            <a:r>
              <a:rPr lang="en-IN" dirty="0"/>
              <a:t> marker.</a:t>
            </a:r>
          </a:p>
          <a:p>
            <a:pPr lvl="1"/>
            <a:r>
              <a:rPr lang="en-IN" dirty="0"/>
              <a:t>On-going tuning of control parameters for the proposed controller.</a:t>
            </a:r>
          </a:p>
          <a:p>
            <a:r>
              <a:rPr lang="en-IN" dirty="0"/>
              <a:t>Input calibration: </a:t>
            </a:r>
          </a:p>
          <a:p>
            <a:pPr lvl="1"/>
            <a:r>
              <a:rPr lang="en-IN" dirty="0"/>
              <a:t>Completed for angular velocities and body thrust.</a:t>
            </a:r>
          </a:p>
          <a:p>
            <a:r>
              <a:rPr lang="en-IN" dirty="0"/>
              <a:t>Output calibration: </a:t>
            </a:r>
          </a:p>
          <a:p>
            <a:pPr lvl="1"/>
            <a:r>
              <a:rPr lang="en-IN" dirty="0"/>
              <a:t>Issues in computing image features and optical flow in virtual image plane.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0A1C2-36F9-77EA-A89F-DEA5FDBC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CFD0B-B6C0-D78D-F049-9040A7A06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827" y="1479290"/>
            <a:ext cx="1845735" cy="18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7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F6F3-DF01-038C-9349-0F501CE6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FE46-D776-AB28-4780-2626E730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IN" dirty="0"/>
              <a:t>Demonstrations with Gazebo SITL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640A0-5C8D-C41D-F459-05B29DE6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5E0C56-E616-627E-D8DA-37390E3AC894}"/>
              </a:ext>
            </a:extLst>
          </p:cNvPr>
          <p:cNvSpPr txBox="1"/>
          <p:nvPr/>
        </p:nvSpPr>
        <p:spPr>
          <a:xfrm>
            <a:off x="1542791" y="4615893"/>
            <a:ext cx="3218575" cy="7487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precise landing on a stationary platform.</a:t>
            </a:r>
            <a:endParaRPr lang="en-IN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6BACC-5B09-9209-FFEA-B118ACABFC0D}"/>
              </a:ext>
            </a:extLst>
          </p:cNvPr>
          <p:cNvSpPr txBox="1"/>
          <p:nvPr/>
        </p:nvSpPr>
        <p:spPr>
          <a:xfrm>
            <a:off x="7567039" y="4602100"/>
            <a:ext cx="2829885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precise landing on a mobile platform.</a:t>
            </a:r>
            <a:endParaRPr lang="en-IN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DD8DEB-1300-ECD3-25F4-E0D1C417352C}"/>
              </a:ext>
            </a:extLst>
          </p:cNvPr>
          <p:cNvSpPr txBox="1"/>
          <p:nvPr/>
        </p:nvSpPr>
        <p:spPr>
          <a:xfrm>
            <a:off x="3344412" y="5588873"/>
            <a:ext cx="5503177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demonstration videos are recorded in Gazebo simulator using GNSS-based PID controller</a:t>
            </a:r>
            <a:endParaRPr lang="en-I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stationary_target">
            <a:hlinkClick r:id="" action="ppaction://media"/>
            <a:extLst>
              <a:ext uri="{FF2B5EF4-FFF2-40B4-BE49-F238E27FC236}">
                <a16:creationId xmlns:a16="http://schemas.microsoft.com/office/drawing/2014/main" id="{80422177-6C68-7A18-4A13-A6A083058EA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t="23962" b="22922"/>
          <a:stretch>
            <a:fillRect/>
          </a:stretch>
        </p:blipFill>
        <p:spPr>
          <a:xfrm>
            <a:off x="862362" y="1559872"/>
            <a:ext cx="4699071" cy="3120000"/>
          </a:xfrm>
          <a:prstGeom prst="rect">
            <a:avLst/>
          </a:prstGeom>
        </p:spPr>
      </p:pic>
      <p:pic>
        <p:nvPicPr>
          <p:cNvPr id="5" name="moving_target">
            <a:hlinkClick r:id="" action="ppaction://media"/>
            <a:extLst>
              <a:ext uri="{FF2B5EF4-FFF2-40B4-BE49-F238E27FC236}">
                <a16:creationId xmlns:a16="http://schemas.microsoft.com/office/drawing/2014/main" id="{257059BF-919C-E9F5-94DF-7D2696F31750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8"/>
          <a:srcRect t="6362" b="5180"/>
          <a:stretch>
            <a:fillRect/>
          </a:stretch>
        </p:blipFill>
        <p:spPr>
          <a:xfrm>
            <a:off x="6630571" y="1559872"/>
            <a:ext cx="4702821" cy="31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655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06"/>
    </mc:Choice>
    <mc:Fallback xmlns="">
      <p:transition spd="slow" advTm="104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03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94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24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22" grpId="0"/>
      <p:bldP spid="23" grpId="0"/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321A-6112-A72F-7D3E-D782272E1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5BF0-DC2A-D3EA-E0E2-1E771BCC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Progress on Experimental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865EF-CD91-C16F-E59B-D50529116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87336"/>
            <a:ext cx="11582400" cy="4484864"/>
          </a:xfrm>
        </p:spPr>
        <p:txBody>
          <a:bodyPr/>
          <a:lstStyle/>
          <a:p>
            <a:r>
              <a:rPr lang="en-IN" dirty="0"/>
              <a:t>Implementation pipeline:</a:t>
            </a:r>
          </a:p>
          <a:p>
            <a:pPr lvl="1"/>
            <a:r>
              <a:rPr lang="en-IN" dirty="0"/>
              <a:t>Setup connection with Flight Controller using MAVSDK.</a:t>
            </a:r>
          </a:p>
          <a:p>
            <a:pPr lvl="1"/>
            <a:r>
              <a:rPr lang="en-IN" dirty="0"/>
              <a:t>Achieved image feed of more than 40 Hz using Raspberry </a:t>
            </a:r>
            <a:r>
              <a:rPr lang="en-IN" dirty="0" err="1"/>
              <a:t>Picamera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Achieved computational speed of more than 90 Hz on Raspberry Pi.</a:t>
            </a:r>
          </a:p>
          <a:p>
            <a:pPr lvl="1"/>
            <a:r>
              <a:rPr lang="en-IN" dirty="0"/>
              <a:t>Tested with nested </a:t>
            </a:r>
            <a:r>
              <a:rPr lang="en-IN" dirty="0" err="1"/>
              <a:t>aruco</a:t>
            </a:r>
            <a:r>
              <a:rPr lang="en-IN" dirty="0"/>
              <a:t> marker.</a:t>
            </a:r>
          </a:p>
          <a:p>
            <a:pPr lvl="1"/>
            <a:r>
              <a:rPr lang="en-IN" dirty="0"/>
              <a:t>Control parameters to be tuned.</a:t>
            </a:r>
          </a:p>
          <a:p>
            <a:r>
              <a:rPr lang="en-IN" dirty="0"/>
              <a:t>Input and output calibration: </a:t>
            </a:r>
          </a:p>
          <a:p>
            <a:pPr lvl="1"/>
            <a:r>
              <a:rPr lang="en-IN" dirty="0"/>
              <a:t>To be calibrated.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633A6-5397-2B55-6943-03B95EB0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8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B29E-34C4-8EEF-5607-E2564A87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9849B-7F76-9C1C-982A-31168C429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77500" lnSpcReduction="20000"/>
          </a:bodyPr>
          <a:lstStyle/>
          <a:p>
            <a:r>
              <a:rPr lang="en-US" sz="2667" dirty="0"/>
              <a:t>Addresses the image-based soft-precise landing problem of a low-</a:t>
            </a:r>
            <a:r>
              <a:rPr lang="en-US" sz="2667" dirty="0" err="1"/>
              <a:t>SWaP</a:t>
            </a:r>
            <a:r>
              <a:rPr lang="en-US" sz="2667" dirty="0"/>
              <a:t>-C quadrotor on an unpredictable moving vehicle</a:t>
            </a:r>
          </a:p>
          <a:p>
            <a:r>
              <a:rPr lang="en-US" sz="2667" dirty="0"/>
              <a:t>Scale-independent approach offers higher precision in target tracking and landing.</a:t>
            </a:r>
            <a:endParaRPr lang="en-US" sz="2400" dirty="0"/>
          </a:p>
          <a:p>
            <a:r>
              <a:rPr lang="en-US" sz="2667" dirty="0"/>
              <a:t>Numerical simulations under realistic disturbance settings validate robustness against: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67" dirty="0"/>
              <a:t>Variation in the quadrotor's initial state,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67" dirty="0"/>
              <a:t>Variation in the target state,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67" dirty="0"/>
              <a:t>Variation in the target dynamics</a:t>
            </a:r>
          </a:p>
          <a:p>
            <a:r>
              <a:rPr lang="en-US" sz="2667" dirty="0"/>
              <a:t>Achieves soft-precise landing with a mean landing time of at most 18.2 s and a horizontal error within 5.8 cm.</a:t>
            </a:r>
          </a:p>
          <a:p>
            <a:r>
              <a:rPr lang="en-US" sz="2667" dirty="0"/>
              <a:t>Only controller to achieve soft-precise landing on every trajectory in comparison to four state-of-the-art baselines </a:t>
            </a:r>
          </a:p>
          <a:p>
            <a:r>
              <a:rPr lang="en-US" sz="2667" dirty="0"/>
              <a:t>Discussed work progress on Gazebo simulation and experimental hardware.</a:t>
            </a:r>
          </a:p>
          <a:p>
            <a:r>
              <a:rPr lang="en-US" sz="2667" dirty="0"/>
              <a:t>Discussed ongoing collaboration projects.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27E90-83F9-D177-F5AA-A9D25771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441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1"/>
    </mc:Choice>
    <mc:Fallback xmlns="">
      <p:transition spd="slow" advTm="99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5|2.7|1.7|1.5|1.9|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6|1|0.6|0.4|0.9|1.5|2.1|0.7|0.6|1.5|1.2|1.4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1|1.6|2.4|1.5|1.6|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3|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6|2.9|2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9738</TotalTime>
  <Words>2414</Words>
  <Application>Microsoft Office PowerPoint</Application>
  <PresentationFormat>Widescreen</PresentationFormat>
  <Paragraphs>325</Paragraphs>
  <Slides>25</Slides>
  <Notes>13</Notes>
  <HiddenSlides>0</HiddenSlides>
  <MMClips>3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 Math</vt:lpstr>
      <vt:lpstr>TeXGyreTermesX-Regular</vt:lpstr>
      <vt:lpstr>Times New Roman</vt:lpstr>
      <vt:lpstr>Wingdings</vt:lpstr>
      <vt:lpstr>Office Theme</vt:lpstr>
      <vt:lpstr>Scale-Free Adaptive Sliding-Mode Control for Guaranteed Soft-Precise Landing under Target Visibility Constraints</vt:lpstr>
      <vt:lpstr>Outline</vt:lpstr>
      <vt:lpstr>Spectrum of Autonomous Landing</vt:lpstr>
      <vt:lpstr>Why Soft-Precise Landing?</vt:lpstr>
      <vt:lpstr>Sensing for Soft-Precise Landing — Why Monocular Vision?</vt:lpstr>
      <vt:lpstr>Landscape of Autonomous Landing Approaches</vt:lpstr>
      <vt:lpstr>Research Gap</vt:lpstr>
      <vt:lpstr>Why Virtual Image Plane?</vt:lpstr>
      <vt:lpstr>Target Image Parameters</vt:lpstr>
      <vt:lpstr>System Output Dynamics</vt:lpstr>
      <vt:lpstr>Problem Statement</vt:lpstr>
      <vt:lpstr>Block Diagram</vt:lpstr>
      <vt:lpstr>Research Novelty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Failure Analysis</vt:lpstr>
      <vt:lpstr>Work Progress on Gazebo SITL</vt:lpstr>
      <vt:lpstr>Key Demonstrations with Gazebo SITL</vt:lpstr>
      <vt:lpstr>Work Progress on Experimental Hardware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Singhal</dc:creator>
  <cp:lastModifiedBy>Shubham Singhal</cp:lastModifiedBy>
  <cp:revision>22</cp:revision>
  <dcterms:created xsi:type="dcterms:W3CDTF">2026-05-22T17:50:24Z</dcterms:created>
  <dcterms:modified xsi:type="dcterms:W3CDTF">2026-06-11T04:36:42Z</dcterms:modified>
</cp:coreProperties>
</file>